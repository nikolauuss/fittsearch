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4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8288000" cy="10287000"/>
  <p:notesSz cx="6858000" cy="9144000"/>
  <p:embeddedFontLst>
    <p:embeddedFont>
      <p:font typeface="Calibri (MS) Bold" charset="1" panose="020F0702030404030204"/>
      <p:regular r:id="rId17"/>
    </p:embeddedFont>
    <p:embeddedFont>
      <p:font typeface="Cambria Bold" charset="1" panose="02040803050406030204"/>
      <p:regular r:id="rId18"/>
    </p:embeddedFont>
    <p:embeddedFont>
      <p:font typeface="Calibri (MS)" charset="1" panose="020F0502020204030204"/>
      <p:regular r:id="rId19"/>
    </p:embeddedFont>
    <p:embeddedFont>
      <p:font typeface="Calibri (MS) Italics" charset="1" panose="020F05020202040A0204"/>
      <p:regular r:id="rId20"/>
    </p:embeddedFont>
    <p:embeddedFont>
      <p:font typeface="Cambria Italics" charset="1" panose="020405030504060A0204"/>
      <p:regular r:id="rId23"/>
    </p:embeddedFont>
    <p:embeddedFont>
      <p:font typeface="Calibri (MS) Bold Italics" charset="1" panose="020F07020304040A0204"/>
      <p:regular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notesMasters/notesMaster1.xml" Type="http://schemas.openxmlformats.org/officeDocument/2006/relationships/notesMaster"/><Relationship Id="rId15" Target="theme/theme2.xml" Type="http://schemas.openxmlformats.org/officeDocument/2006/relationships/theme"/><Relationship Id="rId16" Target="notesSlides/notesSlide1.xml" Type="http://schemas.openxmlformats.org/officeDocument/2006/relationships/notesSlide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notesSlides/notesSlide2.xml" Type="http://schemas.openxmlformats.org/officeDocument/2006/relationships/notesSlide"/><Relationship Id="rId22" Target="notesSlides/notesSlide3.xml" Type="http://schemas.openxmlformats.org/officeDocument/2006/relationships/notesSlide"/><Relationship Id="rId23" Target="fonts/font23.fntdata" Type="http://schemas.openxmlformats.org/officeDocument/2006/relationships/font"/><Relationship Id="rId24" Target="notesSlides/notesSlide4.xml" Type="http://schemas.openxmlformats.org/officeDocument/2006/relationships/notesSlide"/><Relationship Id="rId25" Target="notesSlides/notesSlide5.xml" Type="http://schemas.openxmlformats.org/officeDocument/2006/relationships/notesSlide"/><Relationship Id="rId26" Target="notesSlides/notesSlide6.xml" Type="http://schemas.openxmlformats.org/officeDocument/2006/relationships/notesSlide"/><Relationship Id="rId27" Target="notesSlides/notesSlide7.xml" Type="http://schemas.openxmlformats.org/officeDocument/2006/relationships/notesSlide"/><Relationship Id="rId28" Target="fonts/font28.fntdata" Type="http://schemas.openxmlformats.org/officeDocument/2006/relationships/font"/><Relationship Id="rId29" Target="notesSlides/notesSlide8.xml" Type="http://schemas.openxmlformats.org/officeDocument/2006/relationships/notesSlide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png" Type="http://schemas.openxmlformats.org/officeDocument/2006/relationships/image"/><Relationship Id="rId4" Target="../media/image2.jpeg" Type="http://schemas.openxmlformats.org/officeDocument/2006/relationships/image"/><Relationship Id="rId5" Target="../media/image3.png" Type="http://schemas.openxmlformats.org/officeDocument/2006/relationships/image"/><Relationship Id="rId6" Target="../media/image4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2.jpeg" Type="http://schemas.openxmlformats.org/officeDocument/2006/relationships/image"/><Relationship Id="rId4" Target="../media/image4.png" Type="http://schemas.openxmlformats.org/officeDocument/2006/relationships/image"/><Relationship Id="rId5" Target="../media/image5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2.jpeg" Type="http://schemas.openxmlformats.org/officeDocument/2006/relationships/image"/><Relationship Id="rId4" Target="../media/image4.png" Type="http://schemas.openxmlformats.org/officeDocument/2006/relationships/image"/><Relationship Id="rId5" Target="../media/image5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2.jpeg" Type="http://schemas.openxmlformats.org/officeDocument/2006/relationships/image"/><Relationship Id="rId4" Target="../media/image4.png" Type="http://schemas.openxmlformats.org/officeDocument/2006/relationships/image"/><Relationship Id="rId5" Target="../media/image5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2.jpeg" Type="http://schemas.openxmlformats.org/officeDocument/2006/relationships/image"/><Relationship Id="rId4" Target="../media/image4.png" Type="http://schemas.openxmlformats.org/officeDocument/2006/relationships/image"/><Relationship Id="rId5" Target="../media/image5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../media/image6.png" Type="http://schemas.openxmlformats.org/officeDocument/2006/relationships/image"/><Relationship Id="rId4" Target="../media/image7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Relationship Id="rId3" Target="../media/image2.jpeg" Type="http://schemas.openxmlformats.org/officeDocument/2006/relationships/image"/><Relationship Id="rId4" Target="../media/image4.png" Type="http://schemas.openxmlformats.org/officeDocument/2006/relationships/image"/><Relationship Id="rId5" Target="../media/image5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.xml" Type="http://schemas.openxmlformats.org/officeDocument/2006/relationships/notesSlide"/><Relationship Id="rId3" Target="../media/image2.jpeg" Type="http://schemas.openxmlformats.org/officeDocument/2006/relationships/image"/><Relationship Id="rId4" Target="../media/image4.png" Type="http://schemas.openxmlformats.org/officeDocument/2006/relationships/image"/><Relationship Id="rId5" Target="../media/image5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144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4538960" y="-2194560"/>
            <a:ext cx="6858000" cy="6858000"/>
            <a:chOff x="0" y="0"/>
            <a:chExt cx="9144000" cy="9144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144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9144000">
                  <a:moveTo>
                    <a:pt x="0" y="4572000"/>
                  </a:moveTo>
                  <a:cubicBezTo>
                    <a:pt x="0" y="2046986"/>
                    <a:pt x="2046986" y="0"/>
                    <a:pt x="4572000" y="0"/>
                  </a:cubicBezTo>
                  <a:cubicBezTo>
                    <a:pt x="7097014" y="0"/>
                    <a:pt x="9144000" y="2046986"/>
                    <a:pt x="9144000" y="4572000"/>
                  </a:cubicBezTo>
                  <a:cubicBezTo>
                    <a:pt x="9144000" y="7097014"/>
                    <a:pt x="7097014" y="9144000"/>
                    <a:pt x="4572000" y="9144000"/>
                  </a:cubicBezTo>
                  <a:cubicBezTo>
                    <a:pt x="2046986" y="9144000"/>
                    <a:pt x="0" y="7097014"/>
                    <a:pt x="0" y="4572000"/>
                  </a:cubicBezTo>
                  <a:close/>
                </a:path>
              </a:pathLst>
            </a:custGeom>
            <a:solidFill>
              <a:srgbClr val="028090">
                <a:alpha val="20000"/>
              </a:srgbClr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0036796" y="2910542"/>
            <a:ext cx="4937760" cy="4937760"/>
            <a:chOff x="0" y="0"/>
            <a:chExt cx="6583680" cy="658368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6583680" cy="6583680"/>
            </a:xfrm>
            <a:custGeom>
              <a:avLst/>
              <a:gdLst/>
              <a:ahLst/>
              <a:cxnLst/>
              <a:rect r="r" b="b" t="t" l="l"/>
              <a:pathLst>
                <a:path h="6583680" w="6583680">
                  <a:moveTo>
                    <a:pt x="0" y="3291840"/>
                  </a:moveTo>
                  <a:cubicBezTo>
                    <a:pt x="0" y="1473835"/>
                    <a:pt x="1473835" y="0"/>
                    <a:pt x="3291840" y="0"/>
                  </a:cubicBezTo>
                  <a:cubicBezTo>
                    <a:pt x="5109845" y="0"/>
                    <a:pt x="6583680" y="1473835"/>
                    <a:pt x="6583680" y="3291840"/>
                  </a:cubicBezTo>
                  <a:cubicBezTo>
                    <a:pt x="6583680" y="5109845"/>
                    <a:pt x="5109845" y="6583680"/>
                    <a:pt x="3291840" y="6583680"/>
                  </a:cubicBezTo>
                  <a:cubicBezTo>
                    <a:pt x="1473835" y="6583680"/>
                    <a:pt x="0" y="5109845"/>
                    <a:pt x="0" y="3291840"/>
                  </a:cubicBezTo>
                  <a:close/>
                </a:path>
              </a:pathLst>
            </a:custGeom>
            <a:blipFill>
              <a:blip r:embed="rId3">
                <a:alphaModFix amt="40000"/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097280" y="2057400"/>
            <a:ext cx="12344400" cy="548640"/>
            <a:chOff x="0" y="0"/>
            <a:chExt cx="16459200" cy="73152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6459200" cy="731520"/>
            </a:xfrm>
            <a:custGeom>
              <a:avLst/>
              <a:gdLst/>
              <a:ahLst/>
              <a:cxnLst/>
              <a:rect r="r" b="b" t="t" l="l"/>
              <a:pathLst>
                <a:path h="731520" w="16459200">
                  <a:moveTo>
                    <a:pt x="0" y="0"/>
                  </a:moveTo>
                  <a:lnTo>
                    <a:pt x="16459200" y="0"/>
                  </a:lnTo>
                  <a:lnTo>
                    <a:pt x="164592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88413" r="0" b="-388413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47625"/>
              <a:ext cx="1645920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b="true" sz="2100" spc="299">
                  <a:solidFill>
                    <a:srgbClr val="02C39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PTY4614 — CAPSTONE · EVALUACIÓN FASE 1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028700" y="2674620"/>
            <a:ext cx="13716000" cy="1920240"/>
            <a:chOff x="0" y="0"/>
            <a:chExt cx="18288000" cy="256032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8288000" cy="2560320"/>
            </a:xfrm>
            <a:custGeom>
              <a:avLst/>
              <a:gdLst/>
              <a:ahLst/>
              <a:cxnLst/>
              <a:rect r="r" b="b" t="t" l="l"/>
              <a:pathLst>
                <a:path h="2560320" w="18288000">
                  <a:moveTo>
                    <a:pt x="0" y="0"/>
                  </a:moveTo>
                  <a:lnTo>
                    <a:pt x="18288000" y="0"/>
                  </a:lnTo>
                  <a:lnTo>
                    <a:pt x="18288000" y="2560320"/>
                  </a:lnTo>
                  <a:lnTo>
                    <a:pt x="0" y="25603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9178" r="0" b="-89178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19050"/>
              <a:ext cx="18288000" cy="25793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0800"/>
                </a:lnSpc>
              </a:pPr>
              <a:r>
                <a:rPr lang="en-US" sz="90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FitSearch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097280" y="4457700"/>
            <a:ext cx="12344400" cy="822960"/>
            <a:chOff x="0" y="0"/>
            <a:chExt cx="16459200" cy="109728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645920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6459200">
                  <a:moveTo>
                    <a:pt x="0" y="0"/>
                  </a:moveTo>
                  <a:lnTo>
                    <a:pt x="16459200" y="0"/>
                  </a:lnTo>
                  <a:lnTo>
                    <a:pt x="1645920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42275" r="0" b="-242275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66675"/>
              <a:ext cx="16459200" cy="11639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960"/>
                </a:lnSpc>
              </a:pPr>
              <a:r>
                <a:rPr lang="en-US" sz="3300">
                  <a:solidFill>
                    <a:srgbClr val="F4FAF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Definición del Proyecto APT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097280" y="5184648"/>
            <a:ext cx="12344400" cy="685800"/>
            <a:chOff x="0" y="0"/>
            <a:chExt cx="16459200" cy="9144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6459200" cy="914400"/>
            </a:xfrm>
            <a:custGeom>
              <a:avLst/>
              <a:gdLst/>
              <a:ahLst/>
              <a:cxnLst/>
              <a:rect r="r" b="b" t="t" l="l"/>
              <a:pathLst>
                <a:path h="914400" w="16459200">
                  <a:moveTo>
                    <a:pt x="0" y="0"/>
                  </a:moveTo>
                  <a:lnTo>
                    <a:pt x="16459200" y="0"/>
                  </a:lnTo>
                  <a:lnTo>
                    <a:pt x="164592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848600" r="0" b="-848600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57150"/>
              <a:ext cx="16459200" cy="9715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 i="true">
                  <a:solidFill>
                    <a:srgbClr val="BFEAE6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Plataforma inteligente de salud, deporte y bienestar</a:t>
              </a:r>
            </a:p>
          </p:txBody>
        </p:sp>
      </p:grpSp>
      <p:sp>
        <p:nvSpPr>
          <p:cNvPr name="AutoShape 18" id="18"/>
          <p:cNvSpPr/>
          <p:nvPr/>
        </p:nvSpPr>
        <p:spPr>
          <a:xfrm rot="22260">
            <a:off x="1082945" y="6436995"/>
            <a:ext cx="4417790" cy="0"/>
          </a:xfrm>
          <a:prstGeom prst="line">
            <a:avLst/>
          </a:prstGeom>
          <a:ln cap="rnd" w="19050">
            <a:solidFill>
              <a:srgbClr val="02C39A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9" id="19"/>
          <p:cNvGrpSpPr/>
          <p:nvPr/>
        </p:nvGrpSpPr>
        <p:grpSpPr>
          <a:xfrm rot="0">
            <a:off x="1097280" y="6720840"/>
            <a:ext cx="12344400" cy="548640"/>
            <a:chOff x="0" y="0"/>
            <a:chExt cx="16459200" cy="73152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6459200" cy="731520"/>
            </a:xfrm>
            <a:custGeom>
              <a:avLst/>
              <a:gdLst/>
              <a:ahLst/>
              <a:cxnLst/>
              <a:rect r="r" b="b" t="t" l="l"/>
              <a:pathLst>
                <a:path h="731520" w="16459200">
                  <a:moveTo>
                    <a:pt x="0" y="0"/>
                  </a:moveTo>
                  <a:lnTo>
                    <a:pt x="16459200" y="0"/>
                  </a:lnTo>
                  <a:lnTo>
                    <a:pt x="164592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88413" r="0" b="-388413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57150"/>
              <a:ext cx="16459200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Rodrigo Cárcamo ·   Luis Méndez   ·   Nicolás Silva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097280" y="7269480"/>
            <a:ext cx="12344400" cy="480060"/>
            <a:chOff x="0" y="0"/>
            <a:chExt cx="16459200" cy="64008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6459200" cy="640080"/>
            </a:xfrm>
            <a:custGeom>
              <a:avLst/>
              <a:gdLst/>
              <a:ahLst/>
              <a:cxnLst/>
              <a:rect r="r" b="b" t="t" l="l"/>
              <a:pathLst>
                <a:path h="640080" w="16459200">
                  <a:moveTo>
                    <a:pt x="0" y="0"/>
                  </a:moveTo>
                  <a:lnTo>
                    <a:pt x="16459200" y="0"/>
                  </a:lnTo>
                  <a:lnTo>
                    <a:pt x="164592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51043" r="0" b="-451043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16459200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9FC9C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Metodología Ágil (Scrum)  · 31 Agosto 2026</a:t>
              </a:r>
            </a:p>
          </p:txBody>
        </p:sp>
      </p:grpSp>
      <p:sp>
        <p:nvSpPr>
          <p:cNvPr name="Freeform 25" id="25"/>
          <p:cNvSpPr/>
          <p:nvPr/>
        </p:nvSpPr>
        <p:spPr>
          <a:xfrm flipH="false" flipV="false" rot="0">
            <a:off x="15560095" y="20760"/>
            <a:ext cx="2727905" cy="668427"/>
          </a:xfrm>
          <a:custGeom>
            <a:avLst/>
            <a:gdLst/>
            <a:ahLst/>
            <a:cxnLst/>
            <a:rect r="r" b="b" t="t" l="l"/>
            <a:pathLst>
              <a:path h="668427" w="2727905">
                <a:moveTo>
                  <a:pt x="0" y="0"/>
                </a:moveTo>
                <a:lnTo>
                  <a:pt x="2727905" y="0"/>
                </a:lnTo>
                <a:lnTo>
                  <a:pt x="2727905" y="668427"/>
                </a:lnTo>
                <a:lnTo>
                  <a:pt x="0" y="6684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617220"/>
            <a:ext cx="10972800" cy="480060"/>
            <a:chOff x="0" y="0"/>
            <a:chExt cx="14630400" cy="6400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630400" cy="640080"/>
            </a:xfrm>
            <a:custGeom>
              <a:avLst/>
              <a:gdLst/>
              <a:ahLst/>
              <a:cxnLst/>
              <a:rect r="r" b="b" t="t" l="l"/>
              <a:pathLst>
                <a:path h="64008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95372" r="0" b="-39537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14630400" cy="6877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 spc="299">
                  <a:solidFill>
                    <a:srgbClr val="02809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 · DEFINICIÓN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22960" y="1069848"/>
            <a:ext cx="15087600" cy="1028700"/>
            <a:chOff x="0" y="0"/>
            <a:chExt cx="20116800" cy="13716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0116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20116800">
                  <a:moveTo>
                    <a:pt x="0" y="0"/>
                  </a:moveTo>
                  <a:lnTo>
                    <a:pt x="20116800" y="0"/>
                  </a:lnTo>
                  <a:lnTo>
                    <a:pt x="20116800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5780" r="0" b="-2357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9525"/>
              <a:ext cx="20116800" cy="13811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120"/>
                </a:lnSpc>
              </a:pPr>
              <a:r>
                <a:rPr lang="en-US" sz="5100" b="true">
                  <a:solidFill>
                    <a:srgbClr val="0B2B2E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¿Qué es FitSearch?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22960" y="2400300"/>
            <a:ext cx="8366760" cy="2331720"/>
            <a:chOff x="0" y="0"/>
            <a:chExt cx="11155680" cy="310896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155680" cy="3108960"/>
            </a:xfrm>
            <a:custGeom>
              <a:avLst/>
              <a:gdLst/>
              <a:ahLst/>
              <a:cxnLst/>
              <a:rect r="r" b="b" t="t" l="l"/>
              <a:pathLst>
                <a:path h="3108960" w="11155680">
                  <a:moveTo>
                    <a:pt x="0" y="0"/>
                  </a:moveTo>
                  <a:lnTo>
                    <a:pt x="11155680" y="0"/>
                  </a:lnTo>
                  <a:lnTo>
                    <a:pt x="11155680" y="3108960"/>
                  </a:lnTo>
                  <a:lnTo>
                    <a:pt x="0" y="3108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916" r="0" b="-19916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14300"/>
              <a:ext cx="11155680" cy="32232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375"/>
                </a:lnSpc>
              </a:pPr>
              <a:r>
                <a:rPr lang="en-US" sz="2250">
                  <a:solidFill>
                    <a:srgbClr val="0B2B2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Plataforma web responsiva que conecta a los usuarios con profesionales, instituciones y servicios de salud, deporte y bienestar, usando principalmente la ubicación del usuario, sus necesidades y herramientas de inteligencia artificial.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822960" y="4869180"/>
            <a:ext cx="8366760" cy="2057400"/>
            <a:chOff x="0" y="0"/>
            <a:chExt cx="11155680" cy="27432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155680" cy="2743200"/>
            </a:xfrm>
            <a:custGeom>
              <a:avLst/>
              <a:gdLst/>
              <a:ahLst/>
              <a:cxnLst/>
              <a:rect r="r" b="b" t="t" l="l"/>
              <a:pathLst>
                <a:path h="2743200" w="11155680">
                  <a:moveTo>
                    <a:pt x="0" y="0"/>
                  </a:moveTo>
                  <a:lnTo>
                    <a:pt x="11155680" y="0"/>
                  </a:lnTo>
                  <a:lnTo>
                    <a:pt x="11155680" y="2743200"/>
                  </a:lnTo>
                  <a:lnTo>
                    <a:pt x="0" y="2743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239" r="0" b="-29239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95250"/>
              <a:ext cx="11155680" cy="28384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08"/>
                </a:lnSpc>
              </a:pPr>
              <a:r>
                <a:rPr lang="en-US" sz="1950">
                  <a:solidFill>
                    <a:srgbClr val="5B6E7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 diferencia de un directorio tradicional, no depende solo de profesionales registrados voluntariamente: también incorpora información de fuentes externas y públicas, permitiendo que un profesional luego reclame y administre su propio perfil.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0012680" y="2400300"/>
            <a:ext cx="850392" cy="850392"/>
            <a:chOff x="0" y="0"/>
            <a:chExt cx="1133856" cy="113385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133856" cy="1133856"/>
            </a:xfrm>
            <a:custGeom>
              <a:avLst/>
              <a:gdLst/>
              <a:ahLst/>
              <a:cxnLst/>
              <a:rect r="r" b="b" t="t" l="l"/>
              <a:pathLst>
                <a:path h="1133856" w="1133856">
                  <a:moveTo>
                    <a:pt x="0" y="566928"/>
                  </a:moveTo>
                  <a:cubicBezTo>
                    <a:pt x="0" y="253873"/>
                    <a:pt x="253873" y="0"/>
                    <a:pt x="566928" y="0"/>
                  </a:cubicBezTo>
                  <a:cubicBezTo>
                    <a:pt x="879983" y="0"/>
                    <a:pt x="1133856" y="253873"/>
                    <a:pt x="1133856" y="566928"/>
                  </a:cubicBezTo>
                  <a:cubicBezTo>
                    <a:pt x="1133856" y="879983"/>
                    <a:pt x="879983" y="1133856"/>
                    <a:pt x="566928" y="1133856"/>
                  </a:cubicBezTo>
                  <a:cubicBezTo>
                    <a:pt x="253873" y="1133856"/>
                    <a:pt x="0" y="879983"/>
                    <a:pt x="0" y="566928"/>
                  </a:cubicBezTo>
                  <a:close/>
                </a:path>
              </a:pathLst>
            </a:custGeom>
            <a:solidFill>
              <a:srgbClr val="028090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0012680" y="2400300"/>
            <a:ext cx="850392" cy="850392"/>
            <a:chOff x="0" y="0"/>
            <a:chExt cx="1133856" cy="1133856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133856" cy="1133856"/>
            </a:xfrm>
            <a:custGeom>
              <a:avLst/>
              <a:gdLst/>
              <a:ahLst/>
              <a:cxnLst/>
              <a:rect r="r" b="b" t="t" l="l"/>
              <a:pathLst>
                <a:path h="1133856" w="1133856">
                  <a:moveTo>
                    <a:pt x="0" y="0"/>
                  </a:moveTo>
                  <a:lnTo>
                    <a:pt x="1133856" y="0"/>
                  </a:lnTo>
                  <a:lnTo>
                    <a:pt x="1133856" y="1133856"/>
                  </a:lnTo>
                  <a:lnTo>
                    <a:pt x="0" y="11338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19050"/>
              <a:ext cx="1133856" cy="11529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1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1178540" y="2359152"/>
            <a:ext cx="6309360" cy="548640"/>
            <a:chOff x="0" y="0"/>
            <a:chExt cx="8412480" cy="73152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8412480" cy="731520"/>
            </a:xfrm>
            <a:custGeom>
              <a:avLst/>
              <a:gdLst/>
              <a:ahLst/>
              <a:cxnLst/>
              <a:rect r="r" b="b" t="t" l="l"/>
              <a:pathLst>
                <a:path h="731520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4077" r="0" b="-174077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9525"/>
              <a:ext cx="8412480" cy="7410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0B2B2E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Descubrir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1178540" y="2894076"/>
            <a:ext cx="6309360" cy="1028700"/>
            <a:chOff x="0" y="0"/>
            <a:chExt cx="8412480" cy="13716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8412480" cy="1371600"/>
            </a:xfrm>
            <a:custGeom>
              <a:avLst/>
              <a:gdLst/>
              <a:ahLst/>
              <a:cxnLst/>
              <a:rect r="r" b="b" t="t" l="l"/>
              <a:pathLst>
                <a:path h="1371600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9508" r="0" b="-69508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66675"/>
              <a:ext cx="8412480" cy="14382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87"/>
                </a:lnSpc>
              </a:pPr>
              <a:r>
                <a:rPr lang="en-US" sz="1875">
                  <a:solidFill>
                    <a:srgbClr val="5B6E7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Buscar profesionales y establecimientos por ubicación y especialidad.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0012680" y="4114800"/>
            <a:ext cx="850392" cy="850392"/>
            <a:chOff x="0" y="0"/>
            <a:chExt cx="1133856" cy="1133856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133856" cy="1133856"/>
            </a:xfrm>
            <a:custGeom>
              <a:avLst/>
              <a:gdLst/>
              <a:ahLst/>
              <a:cxnLst/>
              <a:rect r="r" b="b" t="t" l="l"/>
              <a:pathLst>
                <a:path h="1133856" w="1133856">
                  <a:moveTo>
                    <a:pt x="0" y="566928"/>
                  </a:moveTo>
                  <a:cubicBezTo>
                    <a:pt x="0" y="253873"/>
                    <a:pt x="253873" y="0"/>
                    <a:pt x="566928" y="0"/>
                  </a:cubicBezTo>
                  <a:cubicBezTo>
                    <a:pt x="879983" y="0"/>
                    <a:pt x="1133856" y="253873"/>
                    <a:pt x="1133856" y="566928"/>
                  </a:cubicBezTo>
                  <a:cubicBezTo>
                    <a:pt x="1133856" y="879983"/>
                    <a:pt x="879983" y="1133856"/>
                    <a:pt x="566928" y="1133856"/>
                  </a:cubicBezTo>
                  <a:cubicBezTo>
                    <a:pt x="253873" y="1133856"/>
                    <a:pt x="0" y="879983"/>
                    <a:pt x="0" y="566928"/>
                  </a:cubicBezTo>
                  <a:close/>
                </a:path>
              </a:pathLst>
            </a:custGeom>
            <a:solidFill>
              <a:srgbClr val="028090"/>
            </a:solid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10012680" y="4114800"/>
            <a:ext cx="850392" cy="850392"/>
            <a:chOff x="0" y="0"/>
            <a:chExt cx="1133856" cy="1133856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133856" cy="1133856"/>
            </a:xfrm>
            <a:custGeom>
              <a:avLst/>
              <a:gdLst/>
              <a:ahLst/>
              <a:cxnLst/>
              <a:rect r="r" b="b" t="t" l="l"/>
              <a:pathLst>
                <a:path h="1133856" w="1133856">
                  <a:moveTo>
                    <a:pt x="0" y="0"/>
                  </a:moveTo>
                  <a:lnTo>
                    <a:pt x="1133856" y="0"/>
                  </a:lnTo>
                  <a:lnTo>
                    <a:pt x="1133856" y="1133856"/>
                  </a:lnTo>
                  <a:lnTo>
                    <a:pt x="0" y="11338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19050"/>
              <a:ext cx="1133856" cy="11529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2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11178540" y="4073652"/>
            <a:ext cx="6309360" cy="548640"/>
            <a:chOff x="0" y="0"/>
            <a:chExt cx="8412480" cy="73152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8412480" cy="731520"/>
            </a:xfrm>
            <a:custGeom>
              <a:avLst/>
              <a:gdLst/>
              <a:ahLst/>
              <a:cxnLst/>
              <a:rect r="r" b="b" t="t" l="l"/>
              <a:pathLst>
                <a:path h="731520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4077" r="0" b="-174077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9525"/>
              <a:ext cx="8412480" cy="7410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0B2B2E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Orientar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11178540" y="4608576"/>
            <a:ext cx="6309360" cy="1028700"/>
            <a:chOff x="0" y="0"/>
            <a:chExt cx="8412480" cy="13716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8412480" cy="1371600"/>
            </a:xfrm>
            <a:custGeom>
              <a:avLst/>
              <a:gdLst/>
              <a:ahLst/>
              <a:cxnLst/>
              <a:rect r="r" b="b" t="t" l="l"/>
              <a:pathLst>
                <a:path h="1371600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9508" r="0" b="-69508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66675"/>
              <a:ext cx="8412480" cy="14382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87"/>
                </a:lnSpc>
              </a:pPr>
              <a:r>
                <a:rPr lang="en-US" sz="1875">
                  <a:solidFill>
                    <a:srgbClr val="5B6E7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Conversar con un asistente de IA sobre salud, nutrición y deporte.</a:t>
              </a: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10012680" y="5829300"/>
            <a:ext cx="850392" cy="850392"/>
            <a:chOff x="0" y="0"/>
            <a:chExt cx="1133856" cy="1133856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133856" cy="1133856"/>
            </a:xfrm>
            <a:custGeom>
              <a:avLst/>
              <a:gdLst/>
              <a:ahLst/>
              <a:cxnLst/>
              <a:rect r="r" b="b" t="t" l="l"/>
              <a:pathLst>
                <a:path h="1133856" w="1133856">
                  <a:moveTo>
                    <a:pt x="0" y="566928"/>
                  </a:moveTo>
                  <a:cubicBezTo>
                    <a:pt x="0" y="253873"/>
                    <a:pt x="253873" y="0"/>
                    <a:pt x="566928" y="0"/>
                  </a:cubicBezTo>
                  <a:cubicBezTo>
                    <a:pt x="879983" y="0"/>
                    <a:pt x="1133856" y="253873"/>
                    <a:pt x="1133856" y="566928"/>
                  </a:cubicBezTo>
                  <a:cubicBezTo>
                    <a:pt x="1133856" y="879983"/>
                    <a:pt x="879983" y="1133856"/>
                    <a:pt x="566928" y="1133856"/>
                  </a:cubicBezTo>
                  <a:cubicBezTo>
                    <a:pt x="253873" y="1133856"/>
                    <a:pt x="0" y="879983"/>
                    <a:pt x="0" y="566928"/>
                  </a:cubicBezTo>
                  <a:close/>
                </a:path>
              </a:pathLst>
            </a:custGeom>
            <a:solidFill>
              <a:srgbClr val="028090"/>
            </a:solidFill>
          </p:spPr>
        </p:sp>
      </p:grpSp>
      <p:grpSp>
        <p:nvGrpSpPr>
          <p:cNvPr name="Group 38" id="38"/>
          <p:cNvGrpSpPr/>
          <p:nvPr/>
        </p:nvGrpSpPr>
        <p:grpSpPr>
          <a:xfrm rot="0">
            <a:off x="10012680" y="5829300"/>
            <a:ext cx="850392" cy="850392"/>
            <a:chOff x="0" y="0"/>
            <a:chExt cx="1133856" cy="1133856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133856" cy="1133856"/>
            </a:xfrm>
            <a:custGeom>
              <a:avLst/>
              <a:gdLst/>
              <a:ahLst/>
              <a:cxnLst/>
              <a:rect r="r" b="b" t="t" l="l"/>
              <a:pathLst>
                <a:path h="1133856" w="1133856">
                  <a:moveTo>
                    <a:pt x="0" y="0"/>
                  </a:moveTo>
                  <a:lnTo>
                    <a:pt x="1133856" y="0"/>
                  </a:lnTo>
                  <a:lnTo>
                    <a:pt x="1133856" y="1133856"/>
                  </a:lnTo>
                  <a:lnTo>
                    <a:pt x="0" y="11338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19050"/>
              <a:ext cx="1133856" cy="11529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3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11178540" y="5788152"/>
            <a:ext cx="6309360" cy="548640"/>
            <a:chOff x="0" y="0"/>
            <a:chExt cx="8412480" cy="73152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8412480" cy="731520"/>
            </a:xfrm>
            <a:custGeom>
              <a:avLst/>
              <a:gdLst/>
              <a:ahLst/>
              <a:cxnLst/>
              <a:rect r="r" b="b" t="t" l="l"/>
              <a:pathLst>
                <a:path h="731520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4077" r="0" b="-174077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9525"/>
              <a:ext cx="8412480" cy="7410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0B2B2E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Hacer seguimiento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11178540" y="6323076"/>
            <a:ext cx="6309360" cy="1028700"/>
            <a:chOff x="0" y="0"/>
            <a:chExt cx="8412480" cy="137160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8412480" cy="1371600"/>
            </a:xfrm>
            <a:custGeom>
              <a:avLst/>
              <a:gdLst/>
              <a:ahLst/>
              <a:cxnLst/>
              <a:rect r="r" b="b" t="t" l="l"/>
              <a:pathLst>
                <a:path h="1371600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9508" r="0" b="-69508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66675"/>
              <a:ext cx="8412480" cy="14382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87"/>
                </a:lnSpc>
              </a:pPr>
              <a:r>
                <a:rPr lang="en-US" sz="1875">
                  <a:solidFill>
                    <a:srgbClr val="5B6E7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Registrar alimentación en lenguaje natural y seguir calorías/macros.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813435" y="7328535"/>
            <a:ext cx="16615410" cy="1322070"/>
            <a:chOff x="0" y="0"/>
            <a:chExt cx="22153880" cy="176276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22153880" cy="1762760"/>
            </a:xfrm>
            <a:custGeom>
              <a:avLst/>
              <a:gdLst/>
              <a:ahLst/>
              <a:cxnLst/>
              <a:rect r="r" b="b" t="t" l="l"/>
              <a:pathLst>
                <a:path h="1762760" w="22153880">
                  <a:moveTo>
                    <a:pt x="0" y="148463"/>
                  </a:moveTo>
                  <a:cubicBezTo>
                    <a:pt x="0" y="66421"/>
                    <a:pt x="66421" y="0"/>
                    <a:pt x="148463" y="0"/>
                  </a:cubicBezTo>
                  <a:lnTo>
                    <a:pt x="22005417" y="0"/>
                  </a:lnTo>
                  <a:cubicBezTo>
                    <a:pt x="22087458" y="0"/>
                    <a:pt x="22153880" y="66421"/>
                    <a:pt x="22153880" y="148463"/>
                  </a:cubicBezTo>
                  <a:lnTo>
                    <a:pt x="22153880" y="1614297"/>
                  </a:lnTo>
                  <a:cubicBezTo>
                    <a:pt x="22153880" y="1696339"/>
                    <a:pt x="22087458" y="1762760"/>
                    <a:pt x="22005417" y="1762760"/>
                  </a:cubicBezTo>
                  <a:lnTo>
                    <a:pt x="148463" y="1762760"/>
                  </a:lnTo>
                  <a:cubicBezTo>
                    <a:pt x="66421" y="1762760"/>
                    <a:pt x="0" y="1696339"/>
                    <a:pt x="0" y="1614297"/>
                  </a:cubicBezTo>
                  <a:close/>
                </a:path>
              </a:pathLst>
            </a:custGeom>
            <a:solidFill>
              <a:srgbClr val="028090">
                <a:alpha val="784"/>
              </a:srgbClr>
            </a:solidFill>
            <a:ln w="19050" cap="sq">
              <a:solidFill>
                <a:srgbClr val="028090"/>
              </a:solidFill>
              <a:prstDash val="solid"/>
              <a:miter/>
            </a:ln>
          </p:spPr>
        </p:sp>
      </p:grpSp>
      <p:grpSp>
        <p:nvGrpSpPr>
          <p:cNvPr name="Group 49" id="49"/>
          <p:cNvGrpSpPr/>
          <p:nvPr/>
        </p:nvGrpSpPr>
        <p:grpSpPr>
          <a:xfrm rot="0">
            <a:off x="1234440" y="7338060"/>
            <a:ext cx="15773400" cy="1303020"/>
            <a:chOff x="0" y="0"/>
            <a:chExt cx="21031200" cy="173736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21031200" cy="1737360"/>
            </a:xfrm>
            <a:custGeom>
              <a:avLst/>
              <a:gdLst/>
              <a:ahLst/>
              <a:cxnLst/>
              <a:rect r="r" b="b" t="t" l="l"/>
              <a:pathLst>
                <a:path h="1737360" w="21031200">
                  <a:moveTo>
                    <a:pt x="0" y="0"/>
                  </a:moveTo>
                  <a:lnTo>
                    <a:pt x="21031200" y="0"/>
                  </a:lnTo>
                  <a:lnTo>
                    <a:pt x="2103120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5871" r="0" b="-185871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47625"/>
              <a:ext cx="21031200" cy="17849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01444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Metodología: Ágil (Scrum)  ·  Equipo de 3 integrantes  ·  18 semanas (Capstone PTY4614)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685800" y="9710928"/>
            <a:ext cx="10972800" cy="411480"/>
            <a:chOff x="0" y="0"/>
            <a:chExt cx="14630400" cy="54864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14630400" cy="548640"/>
            </a:xfrm>
            <a:custGeom>
              <a:avLst/>
              <a:gdLst/>
              <a:ahLst/>
              <a:cxnLst/>
              <a:rect r="r" b="b" t="t" l="l"/>
              <a:pathLst>
                <a:path h="54864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9601" r="0" b="-469601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-38100"/>
              <a:ext cx="14630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5B6E7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FitSearch — Definición del Proyecto APT (Fase 1)</a:t>
              </a: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14854428" y="9710928"/>
            <a:ext cx="2743200" cy="411480"/>
            <a:chOff x="0" y="0"/>
            <a:chExt cx="3657600" cy="54864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3657600" cy="548640"/>
            </a:xfrm>
            <a:custGeom>
              <a:avLst/>
              <a:gdLst/>
              <a:ahLst/>
              <a:cxnLst/>
              <a:rect r="r" b="b" t="t" l="l"/>
              <a:pathLst>
                <a:path h="54864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9900" r="0" b="-79900"/>
              </a:stretch>
            </a:blipFill>
          </p:spPr>
        </p:sp>
        <p:sp>
          <p:nvSpPr>
            <p:cNvPr name="TextBox 57" id="57"/>
            <p:cNvSpPr txBox="true"/>
            <p:nvPr/>
          </p:nvSpPr>
          <p:spPr>
            <a:xfrm>
              <a:off x="0" y="-38100"/>
              <a:ext cx="36576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5B6E7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02</a:t>
              </a:r>
            </a:p>
          </p:txBody>
        </p:sp>
      </p:grpSp>
      <p:sp>
        <p:nvSpPr>
          <p:cNvPr name="Freeform 58" id="58"/>
          <p:cNvSpPr/>
          <p:nvPr/>
        </p:nvSpPr>
        <p:spPr>
          <a:xfrm flipH="false" flipV="false" rot="0">
            <a:off x="15560095" y="20760"/>
            <a:ext cx="2727905" cy="668427"/>
          </a:xfrm>
          <a:custGeom>
            <a:avLst/>
            <a:gdLst/>
            <a:ahLst/>
            <a:cxnLst/>
            <a:rect r="r" b="b" t="t" l="l"/>
            <a:pathLst>
              <a:path h="668427" w="2727905">
                <a:moveTo>
                  <a:pt x="0" y="0"/>
                </a:moveTo>
                <a:lnTo>
                  <a:pt x="2727905" y="0"/>
                </a:lnTo>
                <a:lnTo>
                  <a:pt x="2727905" y="668427"/>
                </a:lnTo>
                <a:lnTo>
                  <a:pt x="0" y="66842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9" id="59"/>
          <p:cNvSpPr/>
          <p:nvPr/>
        </p:nvSpPr>
        <p:spPr>
          <a:xfrm flipH="false" flipV="false" rot="0">
            <a:off x="8344186" y="0"/>
            <a:ext cx="1553908" cy="1551492"/>
          </a:xfrm>
          <a:custGeom>
            <a:avLst/>
            <a:gdLst/>
            <a:ahLst/>
            <a:cxnLst/>
            <a:rect r="r" b="b" t="t" l="l"/>
            <a:pathLst>
              <a:path h="1551492" w="1553908">
                <a:moveTo>
                  <a:pt x="0" y="0"/>
                </a:moveTo>
                <a:lnTo>
                  <a:pt x="1553908" y="0"/>
                </a:lnTo>
                <a:lnTo>
                  <a:pt x="1553908" y="1551492"/>
                </a:lnTo>
                <a:lnTo>
                  <a:pt x="0" y="155149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617220"/>
            <a:ext cx="10972800" cy="480060"/>
            <a:chOff x="0" y="0"/>
            <a:chExt cx="14630400" cy="6400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630400" cy="640080"/>
            </a:xfrm>
            <a:custGeom>
              <a:avLst/>
              <a:gdLst/>
              <a:ahLst/>
              <a:cxnLst/>
              <a:rect r="r" b="b" t="t" l="l"/>
              <a:pathLst>
                <a:path h="64008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95372" r="0" b="-39537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14630400" cy="6877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 spc="299">
                  <a:solidFill>
                    <a:srgbClr val="02809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 · PROBLEMÁTICA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22960" y="1069848"/>
            <a:ext cx="15087600" cy="1028700"/>
            <a:chOff x="0" y="0"/>
            <a:chExt cx="20116800" cy="13716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0116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20116800">
                  <a:moveTo>
                    <a:pt x="0" y="0"/>
                  </a:moveTo>
                  <a:lnTo>
                    <a:pt x="20116800" y="0"/>
                  </a:lnTo>
                  <a:lnTo>
                    <a:pt x="20116800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5780" r="0" b="-2357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9525"/>
              <a:ext cx="20116800" cy="13811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120"/>
                </a:lnSpc>
              </a:pPr>
              <a:r>
                <a:rPr lang="en-US" sz="5100" b="true">
                  <a:solidFill>
                    <a:srgbClr val="0B2B2E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El problema que aborda FitSearch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13435" y="2459355"/>
            <a:ext cx="16615410" cy="2625090"/>
            <a:chOff x="0" y="0"/>
            <a:chExt cx="22153880" cy="35001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153880" cy="3500120"/>
            </a:xfrm>
            <a:custGeom>
              <a:avLst/>
              <a:gdLst/>
              <a:ahLst/>
              <a:cxnLst/>
              <a:rect r="r" b="b" t="t" l="l"/>
              <a:pathLst>
                <a:path h="3500120" w="22153880">
                  <a:moveTo>
                    <a:pt x="0" y="184150"/>
                  </a:moveTo>
                  <a:cubicBezTo>
                    <a:pt x="0" y="82423"/>
                    <a:pt x="82423" y="0"/>
                    <a:pt x="184150" y="0"/>
                  </a:cubicBezTo>
                  <a:lnTo>
                    <a:pt x="21969730" y="0"/>
                  </a:lnTo>
                  <a:cubicBezTo>
                    <a:pt x="22071457" y="0"/>
                    <a:pt x="22153880" y="82423"/>
                    <a:pt x="22153880" y="184150"/>
                  </a:cubicBezTo>
                  <a:lnTo>
                    <a:pt x="22153880" y="3315970"/>
                  </a:lnTo>
                  <a:cubicBezTo>
                    <a:pt x="22153880" y="3417697"/>
                    <a:pt x="22071457" y="3500120"/>
                    <a:pt x="21969730" y="3500120"/>
                  </a:cubicBezTo>
                  <a:lnTo>
                    <a:pt x="184150" y="3500120"/>
                  </a:lnTo>
                  <a:cubicBezTo>
                    <a:pt x="82423" y="3500120"/>
                    <a:pt x="0" y="3417697"/>
                    <a:pt x="0" y="331597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DCEAE8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303020" y="2468880"/>
            <a:ext cx="15636240" cy="2606040"/>
            <a:chOff x="0" y="0"/>
            <a:chExt cx="20848320" cy="347472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848320" cy="3474720"/>
            </a:xfrm>
            <a:custGeom>
              <a:avLst/>
              <a:gdLst/>
              <a:ahLst/>
              <a:cxnLst/>
              <a:rect r="r" b="b" t="t" l="l"/>
              <a:pathLst>
                <a:path h="3474720" w="20848320">
                  <a:moveTo>
                    <a:pt x="0" y="0"/>
                  </a:moveTo>
                  <a:lnTo>
                    <a:pt x="20848320" y="0"/>
                  </a:lnTo>
                  <a:lnTo>
                    <a:pt x="20848320" y="3474720"/>
                  </a:lnTo>
                  <a:lnTo>
                    <a:pt x="0" y="3474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6910" r="0" b="-6691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114300"/>
              <a:ext cx="20848320" cy="35890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212"/>
                </a:lnSpc>
              </a:pPr>
              <a:r>
                <a:rPr lang="en-US" sz="2700" i="true">
                  <a:solidFill>
                    <a:srgbClr val="01444C"/>
                  </a:solidFill>
                  <a:latin typeface="Cambria Italics"/>
                  <a:ea typeface="Cambria Italics"/>
                  <a:cs typeface="Cambria Italics"/>
                  <a:sym typeface="Cambria Italics"/>
                </a:rPr>
                <a:t>Las personas que buscan mejorar su salud, condición física o alimentación deben recurrir a distintas aplicaciones o directorios dispersos para encontrar profesionales, informarse y llevar seguimiento de su progreso, lo que dificulta un proceso que debería ser simple y guiado.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22960" y="5554980"/>
            <a:ext cx="13716000" cy="548640"/>
            <a:chOff x="0" y="0"/>
            <a:chExt cx="18288000" cy="73152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8288000" cy="731520"/>
            </a:xfrm>
            <a:custGeom>
              <a:avLst/>
              <a:gdLst/>
              <a:ahLst/>
              <a:cxnLst/>
              <a:rect r="r" b="b" t="t" l="l"/>
              <a:pathLst>
                <a:path h="731520" w="18288000">
                  <a:moveTo>
                    <a:pt x="0" y="0"/>
                  </a:moveTo>
                  <a:lnTo>
                    <a:pt x="18288000" y="0"/>
                  </a:lnTo>
                  <a:lnTo>
                    <a:pt x="182880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37125" r="0" b="-437125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9525"/>
              <a:ext cx="18288000" cy="7410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0B2B2E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Dificultades identificadas para el desarrollo del proyecto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822960" y="6240780"/>
            <a:ext cx="8092440" cy="2537460"/>
            <a:chOff x="0" y="0"/>
            <a:chExt cx="10789920" cy="338328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789920" cy="3383280"/>
            </a:xfrm>
            <a:custGeom>
              <a:avLst/>
              <a:gdLst/>
              <a:ahLst/>
              <a:cxnLst/>
              <a:rect r="r" b="b" t="t" l="l"/>
              <a:pathLst>
                <a:path h="3383280" w="1078992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10643616" y="0"/>
                  </a:lnTo>
                  <a:cubicBezTo>
                    <a:pt x="10724388" y="0"/>
                    <a:pt x="10789920" y="65532"/>
                    <a:pt x="10789920" y="146304"/>
                  </a:cubicBezTo>
                  <a:lnTo>
                    <a:pt x="10789920" y="3236976"/>
                  </a:lnTo>
                  <a:cubicBezTo>
                    <a:pt x="10789920" y="3317748"/>
                    <a:pt x="10724388" y="3383280"/>
                    <a:pt x="10643616" y="3383280"/>
                  </a:cubicBezTo>
                  <a:lnTo>
                    <a:pt x="146304" y="3383280"/>
                  </a:lnTo>
                  <a:cubicBezTo>
                    <a:pt x="65532" y="3383280"/>
                    <a:pt x="0" y="3317748"/>
                    <a:pt x="0" y="3236976"/>
                  </a:cubicBezTo>
                  <a:close/>
                </a:path>
              </a:pathLst>
            </a:custGeom>
            <a:solidFill>
              <a:srgbClr val="01444C"/>
            </a:solid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1234440" y="6515100"/>
            <a:ext cx="7269480" cy="617220"/>
            <a:chOff x="0" y="0"/>
            <a:chExt cx="9692640" cy="82296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9692640" cy="822960"/>
            </a:xfrm>
            <a:custGeom>
              <a:avLst/>
              <a:gdLst/>
              <a:ahLst/>
              <a:cxnLst/>
              <a:rect r="r" b="b" t="t" l="l"/>
              <a:pathLst>
                <a:path h="822960" w="9692640">
                  <a:moveTo>
                    <a:pt x="0" y="0"/>
                  </a:moveTo>
                  <a:lnTo>
                    <a:pt x="9692640" y="0"/>
                  </a:lnTo>
                  <a:lnTo>
                    <a:pt x="9692640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9490" r="0" b="-179490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19050"/>
              <a:ext cx="9692640" cy="8420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 b="true">
                  <a:solidFill>
                    <a:srgbClr val="02C39A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Integración del asistente de IA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234440" y="7132320"/>
            <a:ext cx="7269480" cy="1508760"/>
            <a:chOff x="0" y="0"/>
            <a:chExt cx="9692640" cy="201168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96926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9692640">
                  <a:moveTo>
                    <a:pt x="0" y="0"/>
                  </a:moveTo>
                  <a:lnTo>
                    <a:pt x="9692640" y="0"/>
                  </a:lnTo>
                  <a:lnTo>
                    <a:pt x="96926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3882" r="0" b="-43882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85725"/>
              <a:ext cx="9692640" cy="20974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1875">
                  <a:solidFill>
                    <a:srgbClr val="F4FAF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Conectar el asistente (function calling) con las herramientas internas de la plataforma.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9326880" y="6240780"/>
            <a:ext cx="8092440" cy="2537460"/>
            <a:chOff x="0" y="0"/>
            <a:chExt cx="10789920" cy="338328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0789920" cy="3383280"/>
            </a:xfrm>
            <a:custGeom>
              <a:avLst/>
              <a:gdLst/>
              <a:ahLst/>
              <a:cxnLst/>
              <a:rect r="r" b="b" t="t" l="l"/>
              <a:pathLst>
                <a:path h="3383280" w="1078992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10643616" y="0"/>
                  </a:lnTo>
                  <a:cubicBezTo>
                    <a:pt x="10724388" y="0"/>
                    <a:pt x="10789920" y="65532"/>
                    <a:pt x="10789920" y="146304"/>
                  </a:cubicBezTo>
                  <a:lnTo>
                    <a:pt x="10789920" y="3236976"/>
                  </a:lnTo>
                  <a:cubicBezTo>
                    <a:pt x="10789920" y="3317748"/>
                    <a:pt x="10724388" y="3383280"/>
                    <a:pt x="10643616" y="3383280"/>
                  </a:cubicBezTo>
                  <a:lnTo>
                    <a:pt x="146304" y="3383280"/>
                  </a:lnTo>
                  <a:cubicBezTo>
                    <a:pt x="65532" y="3383280"/>
                    <a:pt x="0" y="3317748"/>
                    <a:pt x="0" y="3236976"/>
                  </a:cubicBezTo>
                  <a:close/>
                </a:path>
              </a:pathLst>
            </a:custGeom>
            <a:solidFill>
              <a:srgbClr val="01444C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9738360" y="6515100"/>
            <a:ext cx="7269480" cy="617220"/>
            <a:chOff x="0" y="0"/>
            <a:chExt cx="9692640" cy="82296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9692640" cy="822960"/>
            </a:xfrm>
            <a:custGeom>
              <a:avLst/>
              <a:gdLst/>
              <a:ahLst/>
              <a:cxnLst/>
              <a:rect r="r" b="b" t="t" l="l"/>
              <a:pathLst>
                <a:path h="822960" w="9692640">
                  <a:moveTo>
                    <a:pt x="0" y="0"/>
                  </a:moveTo>
                  <a:lnTo>
                    <a:pt x="9692640" y="0"/>
                  </a:lnTo>
                  <a:lnTo>
                    <a:pt x="9692640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9490" r="0" b="-179490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19050"/>
              <a:ext cx="9692640" cy="8420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 b="true">
                  <a:solidFill>
                    <a:srgbClr val="02C39A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Coordinación de horarios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9738360" y="7132320"/>
            <a:ext cx="7269480" cy="1508760"/>
            <a:chOff x="0" y="0"/>
            <a:chExt cx="9692640" cy="201168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96926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9692640">
                  <a:moveTo>
                    <a:pt x="0" y="0"/>
                  </a:moveTo>
                  <a:lnTo>
                    <a:pt x="9692640" y="0"/>
                  </a:lnTo>
                  <a:lnTo>
                    <a:pt x="96926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3882" r="0" b="-43882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85725"/>
              <a:ext cx="9692640" cy="20974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1875">
                  <a:solidFill>
                    <a:srgbClr val="F4FAF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Alinear al equipo de 3 personas para las reuniones ágiles del proyecto.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685800" y="9710928"/>
            <a:ext cx="10972800" cy="411480"/>
            <a:chOff x="0" y="0"/>
            <a:chExt cx="14630400" cy="54864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4630400" cy="548640"/>
            </a:xfrm>
            <a:custGeom>
              <a:avLst/>
              <a:gdLst/>
              <a:ahLst/>
              <a:cxnLst/>
              <a:rect r="r" b="b" t="t" l="l"/>
              <a:pathLst>
                <a:path h="54864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9601" r="0" b="-469601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4630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5B6E7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FitSearch — Definición del Proyecto APT (Fase 1)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4854428" y="9710928"/>
            <a:ext cx="2743200" cy="411480"/>
            <a:chOff x="0" y="0"/>
            <a:chExt cx="3657600" cy="54864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3657600" cy="548640"/>
            </a:xfrm>
            <a:custGeom>
              <a:avLst/>
              <a:gdLst/>
              <a:ahLst/>
              <a:cxnLst/>
              <a:rect r="r" b="b" t="t" l="l"/>
              <a:pathLst>
                <a:path h="54864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9900" r="0" b="-79900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36576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5B6E7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03</a:t>
              </a:r>
            </a:p>
          </p:txBody>
        </p:sp>
      </p:grpSp>
      <p:sp>
        <p:nvSpPr>
          <p:cNvPr name="Freeform 38" id="38"/>
          <p:cNvSpPr/>
          <p:nvPr/>
        </p:nvSpPr>
        <p:spPr>
          <a:xfrm flipH="false" flipV="false" rot="0">
            <a:off x="15560095" y="20760"/>
            <a:ext cx="2727905" cy="668427"/>
          </a:xfrm>
          <a:custGeom>
            <a:avLst/>
            <a:gdLst/>
            <a:ahLst/>
            <a:cxnLst/>
            <a:rect r="r" b="b" t="t" l="l"/>
            <a:pathLst>
              <a:path h="668427" w="2727905">
                <a:moveTo>
                  <a:pt x="0" y="0"/>
                </a:moveTo>
                <a:lnTo>
                  <a:pt x="2727905" y="0"/>
                </a:lnTo>
                <a:lnTo>
                  <a:pt x="2727905" y="668427"/>
                </a:lnTo>
                <a:lnTo>
                  <a:pt x="0" y="66842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39" id="39"/>
          <p:cNvSpPr/>
          <p:nvPr/>
        </p:nvSpPr>
        <p:spPr>
          <a:xfrm flipH="false" flipV="false" rot="0">
            <a:off x="8344186" y="0"/>
            <a:ext cx="1553908" cy="1551492"/>
          </a:xfrm>
          <a:custGeom>
            <a:avLst/>
            <a:gdLst/>
            <a:ahLst/>
            <a:cxnLst/>
            <a:rect r="r" b="b" t="t" l="l"/>
            <a:pathLst>
              <a:path h="1551492" w="1553908">
                <a:moveTo>
                  <a:pt x="0" y="0"/>
                </a:moveTo>
                <a:lnTo>
                  <a:pt x="1553908" y="0"/>
                </a:lnTo>
                <a:lnTo>
                  <a:pt x="1553908" y="1551492"/>
                </a:lnTo>
                <a:lnTo>
                  <a:pt x="0" y="155149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617220"/>
            <a:ext cx="10972800" cy="480060"/>
            <a:chOff x="0" y="0"/>
            <a:chExt cx="14630400" cy="6400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630400" cy="640080"/>
            </a:xfrm>
            <a:custGeom>
              <a:avLst/>
              <a:gdLst/>
              <a:ahLst/>
              <a:cxnLst/>
              <a:rect r="r" b="b" t="t" l="l"/>
              <a:pathLst>
                <a:path h="64008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95372" r="0" b="-39537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14630400" cy="6877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 spc="299">
                  <a:solidFill>
                    <a:srgbClr val="02809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 · OBJETIVOS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22960" y="1069848"/>
            <a:ext cx="15087600" cy="1028700"/>
            <a:chOff x="0" y="0"/>
            <a:chExt cx="20116800" cy="13716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0116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20116800">
                  <a:moveTo>
                    <a:pt x="0" y="0"/>
                  </a:moveTo>
                  <a:lnTo>
                    <a:pt x="20116800" y="0"/>
                  </a:lnTo>
                  <a:lnTo>
                    <a:pt x="20116800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5780" r="0" b="-2357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9525"/>
              <a:ext cx="20116800" cy="13811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120"/>
                </a:lnSpc>
              </a:pPr>
              <a:r>
                <a:rPr lang="en-US" sz="5100" b="true">
                  <a:solidFill>
                    <a:srgbClr val="0B2B2E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Objetivo general y específicos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22960" y="2400300"/>
            <a:ext cx="16596360" cy="1577340"/>
            <a:chOff x="0" y="0"/>
            <a:chExt cx="22128480" cy="21031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128480" cy="2103120"/>
            </a:xfrm>
            <a:custGeom>
              <a:avLst/>
              <a:gdLst/>
              <a:ahLst/>
              <a:cxnLst/>
              <a:rect r="r" b="b" t="t" l="l"/>
              <a:pathLst>
                <a:path h="2103120" w="2212848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1945600" y="0"/>
                  </a:lnTo>
                  <a:cubicBezTo>
                    <a:pt x="22046564" y="0"/>
                    <a:pt x="22128480" y="81915"/>
                    <a:pt x="22128480" y="182880"/>
                  </a:cubicBezTo>
                  <a:lnTo>
                    <a:pt x="22128480" y="1920240"/>
                  </a:lnTo>
                  <a:cubicBezTo>
                    <a:pt x="22128480" y="2021205"/>
                    <a:pt x="22046564" y="2103120"/>
                    <a:pt x="21945600" y="2103120"/>
                  </a:cubicBezTo>
                  <a:lnTo>
                    <a:pt x="182880" y="2103120"/>
                  </a:lnTo>
                  <a:cubicBezTo>
                    <a:pt x="81915" y="2103120"/>
                    <a:pt x="0" y="2021205"/>
                    <a:pt x="0" y="1920240"/>
                  </a:cubicBezTo>
                  <a:close/>
                </a:path>
              </a:pathLst>
            </a:custGeom>
            <a:solidFill>
              <a:srgbClr val="02809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303020" y="2537460"/>
            <a:ext cx="15636240" cy="411480"/>
            <a:chOff x="0" y="0"/>
            <a:chExt cx="20848320" cy="5486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848320" cy="548640"/>
            </a:xfrm>
            <a:custGeom>
              <a:avLst/>
              <a:gdLst/>
              <a:ahLst/>
              <a:cxnLst/>
              <a:rect r="r" b="b" t="t" l="l"/>
              <a:pathLst>
                <a:path h="548640" w="20848320">
                  <a:moveTo>
                    <a:pt x="0" y="0"/>
                  </a:moveTo>
                  <a:lnTo>
                    <a:pt x="20848320" y="0"/>
                  </a:lnTo>
                  <a:lnTo>
                    <a:pt x="208483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90431" r="0" b="-690431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28575"/>
              <a:ext cx="2084832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299">
                  <a:solidFill>
                    <a:srgbClr val="D7F5F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OBJETIVO GENERAL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303020" y="2921508"/>
            <a:ext cx="15636240" cy="1028700"/>
            <a:chOff x="0" y="0"/>
            <a:chExt cx="20848320" cy="13716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0848320" cy="1371600"/>
            </a:xfrm>
            <a:custGeom>
              <a:avLst/>
              <a:gdLst/>
              <a:ahLst/>
              <a:cxnLst/>
              <a:rect r="r" b="b" t="t" l="l"/>
              <a:pathLst>
                <a:path h="1371600" w="20848320">
                  <a:moveTo>
                    <a:pt x="0" y="0"/>
                  </a:moveTo>
                  <a:lnTo>
                    <a:pt x="20848320" y="0"/>
                  </a:lnTo>
                  <a:lnTo>
                    <a:pt x="20848320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6172" r="0" b="-246172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66675"/>
              <a:ext cx="20848320" cy="14382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94"/>
                </a:lnSpc>
              </a:pPr>
              <a:r>
                <a:rPr lang="en-US" sz="2025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Desarrollar FitSearch, una plataforma web responsiva que permita encontrar de forma rápida y geolocalizada profesionales y establecimientos de salud, deporte y bienestar, apoyada por un asistente de IA y herramientas de seguimiento nutricional.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822960" y="4320540"/>
            <a:ext cx="8229600" cy="411480"/>
            <a:chOff x="0" y="0"/>
            <a:chExt cx="10972800" cy="5486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97280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9700" r="0" b="-339700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28575"/>
              <a:ext cx="109728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299">
                  <a:solidFill>
                    <a:srgbClr val="02809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OBJETIVOS ESPECÍFICOS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822960" y="4869180"/>
            <a:ext cx="493776" cy="493776"/>
            <a:chOff x="0" y="0"/>
            <a:chExt cx="658368" cy="658368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658368" cy="658368"/>
            </a:xfrm>
            <a:custGeom>
              <a:avLst/>
              <a:gdLst/>
              <a:ahLst/>
              <a:cxnLst/>
              <a:rect r="r" b="b" t="t" l="l"/>
              <a:pathLst>
                <a:path h="658368" w="658368">
                  <a:moveTo>
                    <a:pt x="0" y="329184"/>
                  </a:moveTo>
                  <a:cubicBezTo>
                    <a:pt x="0" y="147320"/>
                    <a:pt x="147320" y="0"/>
                    <a:pt x="329184" y="0"/>
                  </a:cubicBezTo>
                  <a:cubicBezTo>
                    <a:pt x="511048" y="0"/>
                    <a:pt x="658368" y="147320"/>
                    <a:pt x="658368" y="329184"/>
                  </a:cubicBezTo>
                  <a:cubicBezTo>
                    <a:pt x="658368" y="511048"/>
                    <a:pt x="511048" y="658368"/>
                    <a:pt x="329184" y="658368"/>
                  </a:cubicBezTo>
                  <a:cubicBezTo>
                    <a:pt x="147320" y="658368"/>
                    <a:pt x="0" y="511048"/>
                    <a:pt x="0" y="329184"/>
                  </a:cubicBezTo>
                  <a:close/>
                </a:path>
              </a:pathLst>
            </a:custGeom>
            <a:solidFill>
              <a:srgbClr val="00A896"/>
            </a:solid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822960" y="4869180"/>
            <a:ext cx="493776" cy="493776"/>
            <a:chOff x="0" y="0"/>
            <a:chExt cx="658368" cy="658368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658368" cy="658368"/>
            </a:xfrm>
            <a:custGeom>
              <a:avLst/>
              <a:gdLst/>
              <a:ahLst/>
              <a:cxnLst/>
              <a:rect r="r" b="b" t="t" l="l"/>
              <a:pathLst>
                <a:path h="658368" w="658368">
                  <a:moveTo>
                    <a:pt x="0" y="0"/>
                  </a:moveTo>
                  <a:lnTo>
                    <a:pt x="658368" y="0"/>
                  </a:lnTo>
                  <a:lnTo>
                    <a:pt x="658368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19050"/>
              <a:ext cx="658368" cy="67741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✓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1508760" y="4800600"/>
            <a:ext cx="7475220" cy="891540"/>
            <a:chOff x="0" y="0"/>
            <a:chExt cx="9966960" cy="118872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9966960" cy="1188720"/>
            </a:xfrm>
            <a:custGeom>
              <a:avLst/>
              <a:gdLst/>
              <a:ahLst/>
              <a:cxnLst/>
              <a:rect r="r" b="b" t="t" l="l"/>
              <a:pathLst>
                <a:path h="1188720" w="9966960">
                  <a:moveTo>
                    <a:pt x="0" y="0"/>
                  </a:moveTo>
                  <a:lnTo>
                    <a:pt x="9966960" y="0"/>
                  </a:lnTo>
                  <a:lnTo>
                    <a:pt x="9966960" y="1188720"/>
                  </a:lnTo>
                  <a:lnTo>
                    <a:pt x="0" y="1188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3374" r="0" b="-113374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57150"/>
              <a:ext cx="9966960" cy="12458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75"/>
                </a:lnSpc>
              </a:pPr>
              <a:r>
                <a:rPr lang="en-US" sz="1875">
                  <a:solidFill>
                    <a:srgbClr val="0B2B2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Registro, autenticación y perfiles de usuarios y profesionales.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9258300" y="4869180"/>
            <a:ext cx="493776" cy="493776"/>
            <a:chOff x="0" y="0"/>
            <a:chExt cx="658368" cy="658368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658368" cy="658368"/>
            </a:xfrm>
            <a:custGeom>
              <a:avLst/>
              <a:gdLst/>
              <a:ahLst/>
              <a:cxnLst/>
              <a:rect r="r" b="b" t="t" l="l"/>
              <a:pathLst>
                <a:path h="658368" w="658368">
                  <a:moveTo>
                    <a:pt x="0" y="329184"/>
                  </a:moveTo>
                  <a:cubicBezTo>
                    <a:pt x="0" y="147320"/>
                    <a:pt x="147320" y="0"/>
                    <a:pt x="329184" y="0"/>
                  </a:cubicBezTo>
                  <a:cubicBezTo>
                    <a:pt x="511048" y="0"/>
                    <a:pt x="658368" y="147320"/>
                    <a:pt x="658368" y="329184"/>
                  </a:cubicBezTo>
                  <a:cubicBezTo>
                    <a:pt x="658368" y="511048"/>
                    <a:pt x="511048" y="658368"/>
                    <a:pt x="329184" y="658368"/>
                  </a:cubicBezTo>
                  <a:cubicBezTo>
                    <a:pt x="147320" y="658368"/>
                    <a:pt x="0" y="511048"/>
                    <a:pt x="0" y="329184"/>
                  </a:cubicBezTo>
                  <a:close/>
                </a:path>
              </a:pathLst>
            </a:custGeom>
            <a:solidFill>
              <a:srgbClr val="00A896"/>
            </a:solid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9258300" y="4869180"/>
            <a:ext cx="493776" cy="493776"/>
            <a:chOff x="0" y="0"/>
            <a:chExt cx="658368" cy="658368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658368" cy="658368"/>
            </a:xfrm>
            <a:custGeom>
              <a:avLst/>
              <a:gdLst/>
              <a:ahLst/>
              <a:cxnLst/>
              <a:rect r="r" b="b" t="t" l="l"/>
              <a:pathLst>
                <a:path h="658368" w="658368">
                  <a:moveTo>
                    <a:pt x="0" y="0"/>
                  </a:moveTo>
                  <a:lnTo>
                    <a:pt x="658368" y="0"/>
                  </a:lnTo>
                  <a:lnTo>
                    <a:pt x="658368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19050"/>
              <a:ext cx="658368" cy="67741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✓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9944100" y="4800600"/>
            <a:ext cx="7475220" cy="891540"/>
            <a:chOff x="0" y="0"/>
            <a:chExt cx="9966960" cy="118872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9966960" cy="1188720"/>
            </a:xfrm>
            <a:custGeom>
              <a:avLst/>
              <a:gdLst/>
              <a:ahLst/>
              <a:cxnLst/>
              <a:rect r="r" b="b" t="t" l="l"/>
              <a:pathLst>
                <a:path h="1188720" w="9966960">
                  <a:moveTo>
                    <a:pt x="0" y="0"/>
                  </a:moveTo>
                  <a:lnTo>
                    <a:pt x="9966960" y="0"/>
                  </a:lnTo>
                  <a:lnTo>
                    <a:pt x="9966960" y="1188720"/>
                  </a:lnTo>
                  <a:lnTo>
                    <a:pt x="0" y="1188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3374" r="0" b="-113374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57150"/>
              <a:ext cx="9966960" cy="12458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75"/>
                </a:lnSpc>
              </a:pPr>
              <a:r>
                <a:rPr lang="en-US" sz="1875">
                  <a:solidFill>
                    <a:srgbClr val="0B2B2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Directorio y buscador geolocalizado con filtros por especialidad, distancia y disponibilidad.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822960" y="5897880"/>
            <a:ext cx="493776" cy="493776"/>
            <a:chOff x="0" y="0"/>
            <a:chExt cx="658368" cy="658368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658368" cy="658368"/>
            </a:xfrm>
            <a:custGeom>
              <a:avLst/>
              <a:gdLst/>
              <a:ahLst/>
              <a:cxnLst/>
              <a:rect r="r" b="b" t="t" l="l"/>
              <a:pathLst>
                <a:path h="658368" w="658368">
                  <a:moveTo>
                    <a:pt x="0" y="329184"/>
                  </a:moveTo>
                  <a:cubicBezTo>
                    <a:pt x="0" y="147320"/>
                    <a:pt x="147320" y="0"/>
                    <a:pt x="329184" y="0"/>
                  </a:cubicBezTo>
                  <a:cubicBezTo>
                    <a:pt x="511048" y="0"/>
                    <a:pt x="658368" y="147320"/>
                    <a:pt x="658368" y="329184"/>
                  </a:cubicBezTo>
                  <a:cubicBezTo>
                    <a:pt x="658368" y="511048"/>
                    <a:pt x="511048" y="658368"/>
                    <a:pt x="329184" y="658368"/>
                  </a:cubicBezTo>
                  <a:cubicBezTo>
                    <a:pt x="147320" y="658368"/>
                    <a:pt x="0" y="511048"/>
                    <a:pt x="0" y="329184"/>
                  </a:cubicBezTo>
                  <a:close/>
                </a:path>
              </a:pathLst>
            </a:custGeom>
            <a:solidFill>
              <a:srgbClr val="00A896"/>
            </a:solidFill>
          </p:spPr>
        </p:sp>
      </p:grpSp>
      <p:grpSp>
        <p:nvGrpSpPr>
          <p:cNvPr name="Group 37" id="37"/>
          <p:cNvGrpSpPr/>
          <p:nvPr/>
        </p:nvGrpSpPr>
        <p:grpSpPr>
          <a:xfrm rot="0">
            <a:off x="822960" y="5897880"/>
            <a:ext cx="493776" cy="493776"/>
            <a:chOff x="0" y="0"/>
            <a:chExt cx="658368" cy="658368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658368" cy="658368"/>
            </a:xfrm>
            <a:custGeom>
              <a:avLst/>
              <a:gdLst/>
              <a:ahLst/>
              <a:cxnLst/>
              <a:rect r="r" b="b" t="t" l="l"/>
              <a:pathLst>
                <a:path h="658368" w="658368">
                  <a:moveTo>
                    <a:pt x="0" y="0"/>
                  </a:moveTo>
                  <a:lnTo>
                    <a:pt x="658368" y="0"/>
                  </a:lnTo>
                  <a:lnTo>
                    <a:pt x="658368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19050"/>
              <a:ext cx="658368" cy="67741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✓</a:t>
              </a: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1508760" y="5829300"/>
            <a:ext cx="7475220" cy="891540"/>
            <a:chOff x="0" y="0"/>
            <a:chExt cx="9966960" cy="118872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9966960" cy="1188720"/>
            </a:xfrm>
            <a:custGeom>
              <a:avLst/>
              <a:gdLst/>
              <a:ahLst/>
              <a:cxnLst/>
              <a:rect r="r" b="b" t="t" l="l"/>
              <a:pathLst>
                <a:path h="1188720" w="9966960">
                  <a:moveTo>
                    <a:pt x="0" y="0"/>
                  </a:moveTo>
                  <a:lnTo>
                    <a:pt x="9966960" y="0"/>
                  </a:lnTo>
                  <a:lnTo>
                    <a:pt x="9966960" y="1188720"/>
                  </a:lnTo>
                  <a:lnTo>
                    <a:pt x="0" y="1188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3374" r="0" b="-113374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57150"/>
              <a:ext cx="9966960" cy="12458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75"/>
                </a:lnSpc>
              </a:pPr>
              <a:r>
                <a:rPr lang="en-US" sz="1875">
                  <a:solidFill>
                    <a:srgbClr val="0B2B2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Visualización de resultados en mapa y en lista.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9258300" y="5897880"/>
            <a:ext cx="493776" cy="493776"/>
            <a:chOff x="0" y="0"/>
            <a:chExt cx="658368" cy="658368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658368" cy="658368"/>
            </a:xfrm>
            <a:custGeom>
              <a:avLst/>
              <a:gdLst/>
              <a:ahLst/>
              <a:cxnLst/>
              <a:rect r="r" b="b" t="t" l="l"/>
              <a:pathLst>
                <a:path h="658368" w="658368">
                  <a:moveTo>
                    <a:pt x="0" y="329184"/>
                  </a:moveTo>
                  <a:cubicBezTo>
                    <a:pt x="0" y="147320"/>
                    <a:pt x="147320" y="0"/>
                    <a:pt x="329184" y="0"/>
                  </a:cubicBezTo>
                  <a:cubicBezTo>
                    <a:pt x="511048" y="0"/>
                    <a:pt x="658368" y="147320"/>
                    <a:pt x="658368" y="329184"/>
                  </a:cubicBezTo>
                  <a:cubicBezTo>
                    <a:pt x="658368" y="511048"/>
                    <a:pt x="511048" y="658368"/>
                    <a:pt x="329184" y="658368"/>
                  </a:cubicBezTo>
                  <a:cubicBezTo>
                    <a:pt x="147320" y="658368"/>
                    <a:pt x="0" y="511048"/>
                    <a:pt x="0" y="329184"/>
                  </a:cubicBezTo>
                  <a:close/>
                </a:path>
              </a:pathLst>
            </a:custGeom>
            <a:solidFill>
              <a:srgbClr val="00A896"/>
            </a:solidFill>
          </p:spPr>
        </p:sp>
      </p:grpSp>
      <p:grpSp>
        <p:nvGrpSpPr>
          <p:cNvPr name="Group 45" id="45"/>
          <p:cNvGrpSpPr/>
          <p:nvPr/>
        </p:nvGrpSpPr>
        <p:grpSpPr>
          <a:xfrm rot="0">
            <a:off x="9258300" y="5897880"/>
            <a:ext cx="493776" cy="493776"/>
            <a:chOff x="0" y="0"/>
            <a:chExt cx="658368" cy="658368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658368" cy="658368"/>
            </a:xfrm>
            <a:custGeom>
              <a:avLst/>
              <a:gdLst/>
              <a:ahLst/>
              <a:cxnLst/>
              <a:rect r="r" b="b" t="t" l="l"/>
              <a:pathLst>
                <a:path h="658368" w="658368">
                  <a:moveTo>
                    <a:pt x="0" y="0"/>
                  </a:moveTo>
                  <a:lnTo>
                    <a:pt x="658368" y="0"/>
                  </a:lnTo>
                  <a:lnTo>
                    <a:pt x="658368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47" id="47"/>
            <p:cNvSpPr txBox="true"/>
            <p:nvPr/>
          </p:nvSpPr>
          <p:spPr>
            <a:xfrm>
              <a:off x="0" y="-19050"/>
              <a:ext cx="658368" cy="67741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✓</a:t>
              </a: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9944100" y="5829300"/>
            <a:ext cx="7475220" cy="891540"/>
            <a:chOff x="0" y="0"/>
            <a:chExt cx="9966960" cy="118872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9966960" cy="1188720"/>
            </a:xfrm>
            <a:custGeom>
              <a:avLst/>
              <a:gdLst/>
              <a:ahLst/>
              <a:cxnLst/>
              <a:rect r="r" b="b" t="t" l="l"/>
              <a:pathLst>
                <a:path h="1188720" w="9966960">
                  <a:moveTo>
                    <a:pt x="0" y="0"/>
                  </a:moveTo>
                  <a:lnTo>
                    <a:pt x="9966960" y="0"/>
                  </a:lnTo>
                  <a:lnTo>
                    <a:pt x="9966960" y="1188720"/>
                  </a:lnTo>
                  <a:lnTo>
                    <a:pt x="0" y="1188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3374" r="0" b="-113374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-57150"/>
              <a:ext cx="9966960" cy="12458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75"/>
                </a:lnSpc>
              </a:pPr>
              <a:r>
                <a:rPr lang="en-US" sz="1875">
                  <a:solidFill>
                    <a:srgbClr val="0B2B2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Asistente de IA que oriente, resuelva dudas generales y recomiende profesionales.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822960" y="6926580"/>
            <a:ext cx="493776" cy="493776"/>
            <a:chOff x="0" y="0"/>
            <a:chExt cx="658368" cy="658368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658368" cy="658368"/>
            </a:xfrm>
            <a:custGeom>
              <a:avLst/>
              <a:gdLst/>
              <a:ahLst/>
              <a:cxnLst/>
              <a:rect r="r" b="b" t="t" l="l"/>
              <a:pathLst>
                <a:path h="658368" w="658368">
                  <a:moveTo>
                    <a:pt x="0" y="329184"/>
                  </a:moveTo>
                  <a:cubicBezTo>
                    <a:pt x="0" y="147320"/>
                    <a:pt x="147320" y="0"/>
                    <a:pt x="329184" y="0"/>
                  </a:cubicBezTo>
                  <a:cubicBezTo>
                    <a:pt x="511048" y="0"/>
                    <a:pt x="658368" y="147320"/>
                    <a:pt x="658368" y="329184"/>
                  </a:cubicBezTo>
                  <a:cubicBezTo>
                    <a:pt x="658368" y="511048"/>
                    <a:pt x="511048" y="658368"/>
                    <a:pt x="329184" y="658368"/>
                  </a:cubicBezTo>
                  <a:cubicBezTo>
                    <a:pt x="147320" y="658368"/>
                    <a:pt x="0" y="511048"/>
                    <a:pt x="0" y="329184"/>
                  </a:cubicBezTo>
                  <a:close/>
                </a:path>
              </a:pathLst>
            </a:custGeom>
            <a:solidFill>
              <a:srgbClr val="00A896"/>
            </a:solidFill>
          </p:spPr>
        </p:sp>
      </p:grpSp>
      <p:grpSp>
        <p:nvGrpSpPr>
          <p:cNvPr name="Group 53" id="53"/>
          <p:cNvGrpSpPr/>
          <p:nvPr/>
        </p:nvGrpSpPr>
        <p:grpSpPr>
          <a:xfrm rot="0">
            <a:off x="822960" y="6926580"/>
            <a:ext cx="493776" cy="493776"/>
            <a:chOff x="0" y="0"/>
            <a:chExt cx="658368" cy="658368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658368" cy="658368"/>
            </a:xfrm>
            <a:custGeom>
              <a:avLst/>
              <a:gdLst/>
              <a:ahLst/>
              <a:cxnLst/>
              <a:rect r="r" b="b" t="t" l="l"/>
              <a:pathLst>
                <a:path h="658368" w="658368">
                  <a:moveTo>
                    <a:pt x="0" y="0"/>
                  </a:moveTo>
                  <a:lnTo>
                    <a:pt x="658368" y="0"/>
                  </a:lnTo>
                  <a:lnTo>
                    <a:pt x="658368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19050"/>
              <a:ext cx="658368" cy="67741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✓</a:t>
              </a:r>
            </a:p>
          </p:txBody>
        </p:sp>
      </p:grpSp>
      <p:grpSp>
        <p:nvGrpSpPr>
          <p:cNvPr name="Group 56" id="56"/>
          <p:cNvGrpSpPr/>
          <p:nvPr/>
        </p:nvGrpSpPr>
        <p:grpSpPr>
          <a:xfrm rot="0">
            <a:off x="1508760" y="6858000"/>
            <a:ext cx="7475220" cy="891540"/>
            <a:chOff x="0" y="0"/>
            <a:chExt cx="9966960" cy="118872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9966960" cy="1188720"/>
            </a:xfrm>
            <a:custGeom>
              <a:avLst/>
              <a:gdLst/>
              <a:ahLst/>
              <a:cxnLst/>
              <a:rect r="r" b="b" t="t" l="l"/>
              <a:pathLst>
                <a:path h="1188720" w="9966960">
                  <a:moveTo>
                    <a:pt x="0" y="0"/>
                  </a:moveTo>
                  <a:lnTo>
                    <a:pt x="9966960" y="0"/>
                  </a:lnTo>
                  <a:lnTo>
                    <a:pt x="9966960" y="1188720"/>
                  </a:lnTo>
                  <a:lnTo>
                    <a:pt x="0" y="1188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3374" r="0" b="-113374"/>
              </a:stretch>
            </a:blipFill>
          </p:spPr>
        </p:sp>
        <p:sp>
          <p:nvSpPr>
            <p:cNvPr name="TextBox 58" id="58"/>
            <p:cNvSpPr txBox="true"/>
            <p:nvPr/>
          </p:nvSpPr>
          <p:spPr>
            <a:xfrm>
              <a:off x="0" y="-57150"/>
              <a:ext cx="9966960" cy="12458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75"/>
                </a:lnSpc>
              </a:pPr>
              <a:r>
                <a:rPr lang="en-US" sz="1875">
                  <a:solidFill>
                    <a:srgbClr val="0B2B2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Gestor de alimentación: registro por lenguaje natural y cálculo de calorías/macronutrientes.</a:t>
              </a: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9258300" y="6926580"/>
            <a:ext cx="493776" cy="493776"/>
            <a:chOff x="0" y="0"/>
            <a:chExt cx="658368" cy="658368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658368" cy="658368"/>
            </a:xfrm>
            <a:custGeom>
              <a:avLst/>
              <a:gdLst/>
              <a:ahLst/>
              <a:cxnLst/>
              <a:rect r="r" b="b" t="t" l="l"/>
              <a:pathLst>
                <a:path h="658368" w="658368">
                  <a:moveTo>
                    <a:pt x="0" y="329184"/>
                  </a:moveTo>
                  <a:cubicBezTo>
                    <a:pt x="0" y="147320"/>
                    <a:pt x="147320" y="0"/>
                    <a:pt x="329184" y="0"/>
                  </a:cubicBezTo>
                  <a:cubicBezTo>
                    <a:pt x="511048" y="0"/>
                    <a:pt x="658368" y="147320"/>
                    <a:pt x="658368" y="329184"/>
                  </a:cubicBezTo>
                  <a:cubicBezTo>
                    <a:pt x="658368" y="511048"/>
                    <a:pt x="511048" y="658368"/>
                    <a:pt x="329184" y="658368"/>
                  </a:cubicBezTo>
                  <a:cubicBezTo>
                    <a:pt x="147320" y="658368"/>
                    <a:pt x="0" y="511048"/>
                    <a:pt x="0" y="329184"/>
                  </a:cubicBezTo>
                  <a:close/>
                </a:path>
              </a:pathLst>
            </a:custGeom>
            <a:solidFill>
              <a:srgbClr val="00A896"/>
            </a:solidFill>
          </p:spPr>
        </p:sp>
      </p:grpSp>
      <p:grpSp>
        <p:nvGrpSpPr>
          <p:cNvPr name="Group 61" id="61"/>
          <p:cNvGrpSpPr/>
          <p:nvPr/>
        </p:nvGrpSpPr>
        <p:grpSpPr>
          <a:xfrm rot="0">
            <a:off x="9258300" y="6926580"/>
            <a:ext cx="493776" cy="493776"/>
            <a:chOff x="0" y="0"/>
            <a:chExt cx="658368" cy="658368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658368" cy="658368"/>
            </a:xfrm>
            <a:custGeom>
              <a:avLst/>
              <a:gdLst/>
              <a:ahLst/>
              <a:cxnLst/>
              <a:rect r="r" b="b" t="t" l="l"/>
              <a:pathLst>
                <a:path h="658368" w="658368">
                  <a:moveTo>
                    <a:pt x="0" y="0"/>
                  </a:moveTo>
                  <a:lnTo>
                    <a:pt x="658368" y="0"/>
                  </a:lnTo>
                  <a:lnTo>
                    <a:pt x="658368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-19050"/>
              <a:ext cx="658368" cy="67741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✓</a:t>
              </a:r>
            </a:p>
          </p:txBody>
        </p:sp>
      </p:grpSp>
      <p:grpSp>
        <p:nvGrpSpPr>
          <p:cNvPr name="Group 64" id="64"/>
          <p:cNvGrpSpPr/>
          <p:nvPr/>
        </p:nvGrpSpPr>
        <p:grpSpPr>
          <a:xfrm rot="0">
            <a:off x="9944100" y="6858000"/>
            <a:ext cx="7475220" cy="891540"/>
            <a:chOff x="0" y="0"/>
            <a:chExt cx="9966960" cy="1188720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9966960" cy="1188720"/>
            </a:xfrm>
            <a:custGeom>
              <a:avLst/>
              <a:gdLst/>
              <a:ahLst/>
              <a:cxnLst/>
              <a:rect r="r" b="b" t="t" l="l"/>
              <a:pathLst>
                <a:path h="1188720" w="9966960">
                  <a:moveTo>
                    <a:pt x="0" y="0"/>
                  </a:moveTo>
                  <a:lnTo>
                    <a:pt x="9966960" y="0"/>
                  </a:lnTo>
                  <a:lnTo>
                    <a:pt x="9966960" y="1188720"/>
                  </a:lnTo>
                  <a:lnTo>
                    <a:pt x="0" y="1188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3374" r="0" b="-113374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-57150"/>
              <a:ext cx="9966960" cy="12458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75"/>
                </a:lnSpc>
              </a:pPr>
              <a:r>
                <a:rPr lang="en-US" sz="1875">
                  <a:solidFill>
                    <a:srgbClr val="0B2B2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Modelo de datos relacional y escalable en MySQL.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822960" y="7955280"/>
            <a:ext cx="493776" cy="493776"/>
            <a:chOff x="0" y="0"/>
            <a:chExt cx="658368" cy="658368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658368" cy="658368"/>
            </a:xfrm>
            <a:custGeom>
              <a:avLst/>
              <a:gdLst/>
              <a:ahLst/>
              <a:cxnLst/>
              <a:rect r="r" b="b" t="t" l="l"/>
              <a:pathLst>
                <a:path h="658368" w="658368">
                  <a:moveTo>
                    <a:pt x="0" y="329184"/>
                  </a:moveTo>
                  <a:cubicBezTo>
                    <a:pt x="0" y="147320"/>
                    <a:pt x="147320" y="0"/>
                    <a:pt x="329184" y="0"/>
                  </a:cubicBezTo>
                  <a:cubicBezTo>
                    <a:pt x="511048" y="0"/>
                    <a:pt x="658368" y="147320"/>
                    <a:pt x="658368" y="329184"/>
                  </a:cubicBezTo>
                  <a:cubicBezTo>
                    <a:pt x="658368" y="511048"/>
                    <a:pt x="511048" y="658368"/>
                    <a:pt x="329184" y="658368"/>
                  </a:cubicBezTo>
                  <a:cubicBezTo>
                    <a:pt x="147320" y="658368"/>
                    <a:pt x="0" y="511048"/>
                    <a:pt x="0" y="329184"/>
                  </a:cubicBezTo>
                  <a:close/>
                </a:path>
              </a:pathLst>
            </a:custGeom>
            <a:solidFill>
              <a:srgbClr val="00A896"/>
            </a:solidFill>
          </p:spPr>
        </p:sp>
      </p:grpSp>
      <p:grpSp>
        <p:nvGrpSpPr>
          <p:cNvPr name="Group 69" id="69"/>
          <p:cNvGrpSpPr/>
          <p:nvPr/>
        </p:nvGrpSpPr>
        <p:grpSpPr>
          <a:xfrm rot="0">
            <a:off x="822960" y="7955280"/>
            <a:ext cx="493776" cy="493776"/>
            <a:chOff x="0" y="0"/>
            <a:chExt cx="658368" cy="658368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658368" cy="658368"/>
            </a:xfrm>
            <a:custGeom>
              <a:avLst/>
              <a:gdLst/>
              <a:ahLst/>
              <a:cxnLst/>
              <a:rect r="r" b="b" t="t" l="l"/>
              <a:pathLst>
                <a:path h="658368" w="658368">
                  <a:moveTo>
                    <a:pt x="0" y="0"/>
                  </a:moveTo>
                  <a:lnTo>
                    <a:pt x="658368" y="0"/>
                  </a:lnTo>
                  <a:lnTo>
                    <a:pt x="658368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71" id="71"/>
            <p:cNvSpPr txBox="true"/>
            <p:nvPr/>
          </p:nvSpPr>
          <p:spPr>
            <a:xfrm>
              <a:off x="0" y="-19050"/>
              <a:ext cx="658368" cy="67741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✓</a:t>
              </a:r>
            </a:p>
          </p:txBody>
        </p:sp>
      </p:grpSp>
      <p:grpSp>
        <p:nvGrpSpPr>
          <p:cNvPr name="Group 72" id="72"/>
          <p:cNvGrpSpPr/>
          <p:nvPr/>
        </p:nvGrpSpPr>
        <p:grpSpPr>
          <a:xfrm rot="0">
            <a:off x="1508760" y="7886700"/>
            <a:ext cx="7475220" cy="891540"/>
            <a:chOff x="0" y="0"/>
            <a:chExt cx="9966960" cy="1188720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9966960" cy="1188720"/>
            </a:xfrm>
            <a:custGeom>
              <a:avLst/>
              <a:gdLst/>
              <a:ahLst/>
              <a:cxnLst/>
              <a:rect r="r" b="b" t="t" l="l"/>
              <a:pathLst>
                <a:path h="1188720" w="9966960">
                  <a:moveTo>
                    <a:pt x="0" y="0"/>
                  </a:moveTo>
                  <a:lnTo>
                    <a:pt x="9966960" y="0"/>
                  </a:lnTo>
                  <a:lnTo>
                    <a:pt x="9966960" y="1188720"/>
                  </a:lnTo>
                  <a:lnTo>
                    <a:pt x="0" y="1188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3374" r="0" b="-113374"/>
              </a:stretch>
            </a:blipFill>
          </p:spPr>
        </p:sp>
        <p:sp>
          <p:nvSpPr>
            <p:cNvPr name="TextBox 74" id="74"/>
            <p:cNvSpPr txBox="true"/>
            <p:nvPr/>
          </p:nvSpPr>
          <p:spPr>
            <a:xfrm>
              <a:off x="0" y="-57150"/>
              <a:ext cx="9966960" cy="12458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75"/>
                </a:lnSpc>
              </a:pPr>
              <a:r>
                <a:rPr lang="en-US" sz="1875">
                  <a:solidFill>
                    <a:srgbClr val="0B2B2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Despliegue con contenedores Docker para portabilidad e instalación fácil.</a:t>
              </a:r>
            </a:p>
          </p:txBody>
        </p:sp>
      </p:grpSp>
      <p:grpSp>
        <p:nvGrpSpPr>
          <p:cNvPr name="Group 75" id="75"/>
          <p:cNvGrpSpPr/>
          <p:nvPr/>
        </p:nvGrpSpPr>
        <p:grpSpPr>
          <a:xfrm rot="0">
            <a:off x="685800" y="9710928"/>
            <a:ext cx="10972800" cy="411480"/>
            <a:chOff x="0" y="0"/>
            <a:chExt cx="14630400" cy="548640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14630400" cy="548640"/>
            </a:xfrm>
            <a:custGeom>
              <a:avLst/>
              <a:gdLst/>
              <a:ahLst/>
              <a:cxnLst/>
              <a:rect r="r" b="b" t="t" l="l"/>
              <a:pathLst>
                <a:path h="54864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9601" r="0" b="-469601"/>
              </a:stretch>
            </a:blipFill>
          </p:spPr>
        </p:sp>
        <p:sp>
          <p:nvSpPr>
            <p:cNvPr name="TextBox 77" id="77"/>
            <p:cNvSpPr txBox="true"/>
            <p:nvPr/>
          </p:nvSpPr>
          <p:spPr>
            <a:xfrm>
              <a:off x="0" y="-38100"/>
              <a:ext cx="14630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5B6E7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FitSearch — Definición del Proyecto APT (Fase 1)</a:t>
              </a:r>
            </a:p>
          </p:txBody>
        </p:sp>
      </p:grpSp>
      <p:grpSp>
        <p:nvGrpSpPr>
          <p:cNvPr name="Group 78" id="78"/>
          <p:cNvGrpSpPr/>
          <p:nvPr/>
        </p:nvGrpSpPr>
        <p:grpSpPr>
          <a:xfrm rot="0">
            <a:off x="14854428" y="9710928"/>
            <a:ext cx="2743200" cy="411480"/>
            <a:chOff x="0" y="0"/>
            <a:chExt cx="3657600" cy="548640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3657600" cy="548640"/>
            </a:xfrm>
            <a:custGeom>
              <a:avLst/>
              <a:gdLst/>
              <a:ahLst/>
              <a:cxnLst/>
              <a:rect r="r" b="b" t="t" l="l"/>
              <a:pathLst>
                <a:path h="54864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9900" r="0" b="-79900"/>
              </a:stretch>
            </a:blipFill>
          </p:spPr>
        </p:sp>
        <p:sp>
          <p:nvSpPr>
            <p:cNvPr name="TextBox 80" id="80"/>
            <p:cNvSpPr txBox="true"/>
            <p:nvPr/>
          </p:nvSpPr>
          <p:spPr>
            <a:xfrm>
              <a:off x="0" y="-38100"/>
              <a:ext cx="36576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5B6E7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04</a:t>
              </a:r>
            </a:p>
          </p:txBody>
        </p:sp>
      </p:grpSp>
      <p:sp>
        <p:nvSpPr>
          <p:cNvPr name="Freeform 81" id="81"/>
          <p:cNvSpPr/>
          <p:nvPr/>
        </p:nvSpPr>
        <p:spPr>
          <a:xfrm flipH="false" flipV="false" rot="0">
            <a:off x="15560095" y="20760"/>
            <a:ext cx="2727905" cy="668427"/>
          </a:xfrm>
          <a:custGeom>
            <a:avLst/>
            <a:gdLst/>
            <a:ahLst/>
            <a:cxnLst/>
            <a:rect r="r" b="b" t="t" l="l"/>
            <a:pathLst>
              <a:path h="668427" w="2727905">
                <a:moveTo>
                  <a:pt x="0" y="0"/>
                </a:moveTo>
                <a:lnTo>
                  <a:pt x="2727905" y="0"/>
                </a:lnTo>
                <a:lnTo>
                  <a:pt x="2727905" y="668427"/>
                </a:lnTo>
                <a:lnTo>
                  <a:pt x="0" y="66842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82" id="82"/>
          <p:cNvSpPr/>
          <p:nvPr/>
        </p:nvSpPr>
        <p:spPr>
          <a:xfrm flipH="false" flipV="false" rot="0">
            <a:off x="8344186" y="0"/>
            <a:ext cx="1553908" cy="1551492"/>
          </a:xfrm>
          <a:custGeom>
            <a:avLst/>
            <a:gdLst/>
            <a:ahLst/>
            <a:cxnLst/>
            <a:rect r="r" b="b" t="t" l="l"/>
            <a:pathLst>
              <a:path h="1551492" w="1553908">
                <a:moveTo>
                  <a:pt x="0" y="0"/>
                </a:moveTo>
                <a:lnTo>
                  <a:pt x="1553908" y="0"/>
                </a:lnTo>
                <a:lnTo>
                  <a:pt x="1553908" y="1551492"/>
                </a:lnTo>
                <a:lnTo>
                  <a:pt x="0" y="155149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617220"/>
            <a:ext cx="10972800" cy="480060"/>
            <a:chOff x="0" y="0"/>
            <a:chExt cx="14630400" cy="6400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630400" cy="640080"/>
            </a:xfrm>
            <a:custGeom>
              <a:avLst/>
              <a:gdLst/>
              <a:ahLst/>
              <a:cxnLst/>
              <a:rect r="r" b="b" t="t" l="l"/>
              <a:pathLst>
                <a:path h="64008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95372" r="0" b="-39537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14630400" cy="6877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 spc="299">
                  <a:solidFill>
                    <a:srgbClr val="02809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 · ALCANCES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22960" y="1069848"/>
            <a:ext cx="15087600" cy="1028700"/>
            <a:chOff x="0" y="0"/>
            <a:chExt cx="20116800" cy="13716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0116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20116800">
                  <a:moveTo>
                    <a:pt x="0" y="0"/>
                  </a:moveTo>
                  <a:lnTo>
                    <a:pt x="20116800" y="0"/>
                  </a:lnTo>
                  <a:lnTo>
                    <a:pt x="20116800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5780" r="0" b="-2357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9525"/>
              <a:ext cx="20116800" cy="13811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120"/>
                </a:lnSpc>
              </a:pPr>
              <a:r>
                <a:rPr lang="en-US" sz="5100" b="true">
                  <a:solidFill>
                    <a:srgbClr val="0B2B2E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Alcance del MVP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08672" y="2386012"/>
            <a:ext cx="8121015" cy="4897755"/>
            <a:chOff x="0" y="0"/>
            <a:chExt cx="10828020" cy="653034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828020" cy="6530340"/>
            </a:xfrm>
            <a:custGeom>
              <a:avLst/>
              <a:gdLst/>
              <a:ahLst/>
              <a:cxnLst/>
              <a:rect r="r" b="b" t="t" l="l"/>
              <a:pathLst>
                <a:path h="6530340" w="10828020">
                  <a:moveTo>
                    <a:pt x="0" y="184023"/>
                  </a:moveTo>
                  <a:cubicBezTo>
                    <a:pt x="0" y="82423"/>
                    <a:pt x="82423" y="0"/>
                    <a:pt x="184023" y="0"/>
                  </a:cubicBezTo>
                  <a:lnTo>
                    <a:pt x="10643997" y="0"/>
                  </a:lnTo>
                  <a:cubicBezTo>
                    <a:pt x="10745597" y="0"/>
                    <a:pt x="10828020" y="82423"/>
                    <a:pt x="10828020" y="184023"/>
                  </a:cubicBezTo>
                  <a:lnTo>
                    <a:pt x="10828020" y="6346317"/>
                  </a:lnTo>
                  <a:cubicBezTo>
                    <a:pt x="10828020" y="6447917"/>
                    <a:pt x="10745597" y="6530340"/>
                    <a:pt x="10643997" y="6530340"/>
                  </a:cubicBezTo>
                  <a:lnTo>
                    <a:pt x="184023" y="6530340"/>
                  </a:lnTo>
                  <a:cubicBezTo>
                    <a:pt x="82423" y="6530340"/>
                    <a:pt x="0" y="6447917"/>
                    <a:pt x="0" y="6346317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00A896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234440" y="2674620"/>
            <a:ext cx="7269480" cy="480060"/>
            <a:chOff x="0" y="0"/>
            <a:chExt cx="9692640" cy="64008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9692640" cy="640080"/>
            </a:xfrm>
            <a:custGeom>
              <a:avLst/>
              <a:gdLst/>
              <a:ahLst/>
              <a:cxnLst/>
              <a:rect r="r" b="b" t="t" l="l"/>
              <a:pathLst>
                <a:path h="640080" w="9692640">
                  <a:moveTo>
                    <a:pt x="0" y="0"/>
                  </a:moveTo>
                  <a:lnTo>
                    <a:pt x="9692640" y="0"/>
                  </a:lnTo>
                  <a:lnTo>
                    <a:pt x="969264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5059" r="0" b="-245059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9692640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225">
                  <a:solidFill>
                    <a:srgbClr val="00A89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INCLUIDO EN EL MVP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34440" y="3291840"/>
            <a:ext cx="411480" cy="411480"/>
            <a:chOff x="0" y="0"/>
            <a:chExt cx="548640" cy="5486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00A896"/>
            </a:solid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1234440" y="3291840"/>
            <a:ext cx="411480" cy="411480"/>
            <a:chOff x="0" y="0"/>
            <a:chExt cx="548640" cy="54864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0"/>
                  </a:moveTo>
                  <a:lnTo>
                    <a:pt x="548640" y="0"/>
                  </a:lnTo>
                  <a:lnTo>
                    <a:pt x="54864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19050"/>
              <a:ext cx="54864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✓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851660" y="3209544"/>
            <a:ext cx="6720840" cy="822960"/>
            <a:chOff x="0" y="0"/>
            <a:chExt cx="8961120" cy="109728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8961120" cy="1097280"/>
            </a:xfrm>
            <a:custGeom>
              <a:avLst/>
              <a:gdLst/>
              <a:ahLst/>
              <a:cxnLst/>
              <a:rect r="r" b="b" t="t" l="l"/>
              <a:pathLst>
                <a:path h="1097280" w="8961120">
                  <a:moveTo>
                    <a:pt x="0" y="0"/>
                  </a:moveTo>
                  <a:lnTo>
                    <a:pt x="8961120" y="0"/>
                  </a:lnTo>
                  <a:lnTo>
                    <a:pt x="89611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9127" r="0" b="-109127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57150"/>
              <a:ext cx="8961120" cy="11544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75"/>
                </a:lnSpc>
              </a:pPr>
              <a:r>
                <a:rPr lang="en-US" sz="1875">
                  <a:solidFill>
                    <a:srgbClr val="0B2B2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Gestión de usuarios y perfiles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234440" y="4279392"/>
            <a:ext cx="411480" cy="411480"/>
            <a:chOff x="0" y="0"/>
            <a:chExt cx="548640" cy="5486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00A896"/>
            </a:solid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1234440" y="4279392"/>
            <a:ext cx="411480" cy="411480"/>
            <a:chOff x="0" y="0"/>
            <a:chExt cx="548640" cy="5486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0"/>
                  </a:moveTo>
                  <a:lnTo>
                    <a:pt x="548640" y="0"/>
                  </a:lnTo>
                  <a:lnTo>
                    <a:pt x="54864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19050"/>
              <a:ext cx="54864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✓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851660" y="4197096"/>
            <a:ext cx="6720840" cy="822960"/>
            <a:chOff x="0" y="0"/>
            <a:chExt cx="8961120" cy="109728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8961120" cy="1097280"/>
            </a:xfrm>
            <a:custGeom>
              <a:avLst/>
              <a:gdLst/>
              <a:ahLst/>
              <a:cxnLst/>
              <a:rect r="r" b="b" t="t" l="l"/>
              <a:pathLst>
                <a:path h="1097280" w="8961120">
                  <a:moveTo>
                    <a:pt x="0" y="0"/>
                  </a:moveTo>
                  <a:lnTo>
                    <a:pt x="8961120" y="0"/>
                  </a:lnTo>
                  <a:lnTo>
                    <a:pt x="89611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9127" r="0" b="-109127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57150"/>
              <a:ext cx="8961120" cy="11544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75"/>
                </a:lnSpc>
              </a:pPr>
              <a:r>
                <a:rPr lang="en-US" sz="1875">
                  <a:solidFill>
                    <a:srgbClr val="0B2B2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Directorio y búsqueda geolocalizada de profesionales/establecimientos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234440" y="5266944"/>
            <a:ext cx="411480" cy="411480"/>
            <a:chOff x="0" y="0"/>
            <a:chExt cx="548640" cy="54864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00A896"/>
            </a:solid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1234440" y="5266944"/>
            <a:ext cx="411480" cy="411480"/>
            <a:chOff x="0" y="0"/>
            <a:chExt cx="548640" cy="54864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0"/>
                  </a:moveTo>
                  <a:lnTo>
                    <a:pt x="548640" y="0"/>
                  </a:lnTo>
                  <a:lnTo>
                    <a:pt x="54864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19050"/>
              <a:ext cx="54864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✓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1851660" y="5184648"/>
            <a:ext cx="6720840" cy="822960"/>
            <a:chOff x="0" y="0"/>
            <a:chExt cx="8961120" cy="109728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8961120" cy="1097280"/>
            </a:xfrm>
            <a:custGeom>
              <a:avLst/>
              <a:gdLst/>
              <a:ahLst/>
              <a:cxnLst/>
              <a:rect r="r" b="b" t="t" l="l"/>
              <a:pathLst>
                <a:path h="1097280" w="8961120">
                  <a:moveTo>
                    <a:pt x="0" y="0"/>
                  </a:moveTo>
                  <a:lnTo>
                    <a:pt x="8961120" y="0"/>
                  </a:lnTo>
                  <a:lnTo>
                    <a:pt x="89611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9127" r="0" b="-109127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57150"/>
              <a:ext cx="8961120" cy="11544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75"/>
                </a:lnSpc>
              </a:pPr>
              <a:r>
                <a:rPr lang="en-US" sz="1875">
                  <a:solidFill>
                    <a:srgbClr val="0B2B2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Asistente de IA con orientación general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1234440" y="6254496"/>
            <a:ext cx="411480" cy="411480"/>
            <a:chOff x="0" y="0"/>
            <a:chExt cx="548640" cy="54864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00A896"/>
            </a:solidFill>
          </p:spPr>
        </p:sp>
      </p:grpSp>
      <p:grpSp>
        <p:nvGrpSpPr>
          <p:cNvPr name="Group 39" id="39"/>
          <p:cNvGrpSpPr/>
          <p:nvPr/>
        </p:nvGrpSpPr>
        <p:grpSpPr>
          <a:xfrm rot="0">
            <a:off x="1234440" y="6254496"/>
            <a:ext cx="411480" cy="411480"/>
            <a:chOff x="0" y="0"/>
            <a:chExt cx="548640" cy="54864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0"/>
                  </a:moveTo>
                  <a:lnTo>
                    <a:pt x="548640" y="0"/>
                  </a:lnTo>
                  <a:lnTo>
                    <a:pt x="54864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-19050"/>
              <a:ext cx="54864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✓</a:t>
              </a: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1851660" y="6172200"/>
            <a:ext cx="6720840" cy="822960"/>
            <a:chOff x="0" y="0"/>
            <a:chExt cx="8961120" cy="109728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8961120" cy="1097280"/>
            </a:xfrm>
            <a:custGeom>
              <a:avLst/>
              <a:gdLst/>
              <a:ahLst/>
              <a:cxnLst/>
              <a:rect r="r" b="b" t="t" l="l"/>
              <a:pathLst>
                <a:path h="1097280" w="8961120">
                  <a:moveTo>
                    <a:pt x="0" y="0"/>
                  </a:moveTo>
                  <a:lnTo>
                    <a:pt x="8961120" y="0"/>
                  </a:lnTo>
                  <a:lnTo>
                    <a:pt x="89611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9127" r="0" b="-109127"/>
              </a:stretch>
            </a:blipFill>
          </p:spPr>
        </p:sp>
        <p:sp>
          <p:nvSpPr>
            <p:cNvPr name="TextBox 44" id="44"/>
            <p:cNvSpPr txBox="true"/>
            <p:nvPr/>
          </p:nvSpPr>
          <p:spPr>
            <a:xfrm>
              <a:off x="0" y="-57150"/>
              <a:ext cx="8961120" cy="11544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75"/>
                </a:lnSpc>
              </a:pPr>
              <a:r>
                <a:rPr lang="en-US" sz="1875">
                  <a:solidFill>
                    <a:srgbClr val="0B2B2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Gestor de alimentación con registro por lenguaje natural</a:t>
              </a: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9312593" y="2386012"/>
            <a:ext cx="8121015" cy="4897755"/>
            <a:chOff x="0" y="0"/>
            <a:chExt cx="10828020" cy="653034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10828020" cy="6530340"/>
            </a:xfrm>
            <a:custGeom>
              <a:avLst/>
              <a:gdLst/>
              <a:ahLst/>
              <a:cxnLst/>
              <a:rect r="r" b="b" t="t" l="l"/>
              <a:pathLst>
                <a:path h="6530340" w="10828020">
                  <a:moveTo>
                    <a:pt x="0" y="184023"/>
                  </a:moveTo>
                  <a:cubicBezTo>
                    <a:pt x="0" y="82423"/>
                    <a:pt x="82423" y="0"/>
                    <a:pt x="184023" y="0"/>
                  </a:cubicBezTo>
                  <a:lnTo>
                    <a:pt x="10643997" y="0"/>
                  </a:lnTo>
                  <a:cubicBezTo>
                    <a:pt x="10745597" y="0"/>
                    <a:pt x="10828020" y="82423"/>
                    <a:pt x="10828020" y="184023"/>
                  </a:cubicBezTo>
                  <a:lnTo>
                    <a:pt x="10828020" y="6346317"/>
                  </a:lnTo>
                  <a:cubicBezTo>
                    <a:pt x="10828020" y="6447917"/>
                    <a:pt x="10745597" y="6530340"/>
                    <a:pt x="10643997" y="6530340"/>
                  </a:cubicBezTo>
                  <a:lnTo>
                    <a:pt x="184023" y="6530340"/>
                  </a:lnTo>
                  <a:cubicBezTo>
                    <a:pt x="82423" y="6530340"/>
                    <a:pt x="0" y="6447917"/>
                    <a:pt x="0" y="6346317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C9C9C9"/>
              </a:solidFill>
              <a:prstDash val="solid"/>
              <a:miter/>
            </a:ln>
          </p:spPr>
        </p:sp>
      </p:grpSp>
      <p:grpSp>
        <p:nvGrpSpPr>
          <p:cNvPr name="Group 47" id="47"/>
          <p:cNvGrpSpPr/>
          <p:nvPr/>
        </p:nvGrpSpPr>
        <p:grpSpPr>
          <a:xfrm rot="0">
            <a:off x="9738360" y="2674620"/>
            <a:ext cx="7269480" cy="480060"/>
            <a:chOff x="0" y="0"/>
            <a:chExt cx="9692640" cy="64008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9692640" cy="640080"/>
            </a:xfrm>
            <a:custGeom>
              <a:avLst/>
              <a:gdLst/>
              <a:ahLst/>
              <a:cxnLst/>
              <a:rect r="r" b="b" t="t" l="l"/>
              <a:pathLst>
                <a:path h="640080" w="9692640">
                  <a:moveTo>
                    <a:pt x="0" y="0"/>
                  </a:moveTo>
                  <a:lnTo>
                    <a:pt x="9692640" y="0"/>
                  </a:lnTo>
                  <a:lnTo>
                    <a:pt x="969264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5059" r="0" b="-245059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-38100"/>
              <a:ext cx="9692640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5B6E7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FUERA DE ALCANCE (ESTE SEMESTRE)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9738360" y="3291840"/>
            <a:ext cx="411480" cy="411480"/>
            <a:chOff x="0" y="0"/>
            <a:chExt cx="548640" cy="54864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AFAFAF"/>
            </a:solidFill>
          </p:spPr>
        </p:sp>
      </p:grpSp>
      <p:grpSp>
        <p:nvGrpSpPr>
          <p:cNvPr name="Group 52" id="52"/>
          <p:cNvGrpSpPr/>
          <p:nvPr/>
        </p:nvGrpSpPr>
        <p:grpSpPr>
          <a:xfrm rot="0">
            <a:off x="9738360" y="3291840"/>
            <a:ext cx="411480" cy="411480"/>
            <a:chOff x="0" y="0"/>
            <a:chExt cx="548640" cy="54864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0"/>
                  </a:moveTo>
                  <a:lnTo>
                    <a:pt x="548640" y="0"/>
                  </a:lnTo>
                  <a:lnTo>
                    <a:pt x="54864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-19050"/>
              <a:ext cx="54864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✕</a:t>
              </a: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10355580" y="3209544"/>
            <a:ext cx="6720840" cy="822960"/>
            <a:chOff x="0" y="0"/>
            <a:chExt cx="8961120" cy="109728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8961120" cy="1097280"/>
            </a:xfrm>
            <a:custGeom>
              <a:avLst/>
              <a:gdLst/>
              <a:ahLst/>
              <a:cxnLst/>
              <a:rect r="r" b="b" t="t" l="l"/>
              <a:pathLst>
                <a:path h="1097280" w="8961120">
                  <a:moveTo>
                    <a:pt x="0" y="0"/>
                  </a:moveTo>
                  <a:lnTo>
                    <a:pt x="8961120" y="0"/>
                  </a:lnTo>
                  <a:lnTo>
                    <a:pt x="89611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9127" r="0" b="-109127"/>
              </a:stretch>
            </a:blipFill>
          </p:spPr>
        </p:sp>
        <p:sp>
          <p:nvSpPr>
            <p:cNvPr name="TextBox 57" id="57"/>
            <p:cNvSpPr txBox="true"/>
            <p:nvPr/>
          </p:nvSpPr>
          <p:spPr>
            <a:xfrm>
              <a:off x="0" y="-57150"/>
              <a:ext cx="8961120" cy="11544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75"/>
                </a:lnSpc>
              </a:pPr>
              <a:r>
                <a:rPr lang="en-US" sz="1875">
                  <a:solidFill>
                    <a:srgbClr val="5B6E7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Reservas</a:t>
              </a:r>
            </a:p>
          </p:txBody>
        </p:sp>
      </p:grpSp>
      <p:grpSp>
        <p:nvGrpSpPr>
          <p:cNvPr name="Group 58" id="58"/>
          <p:cNvGrpSpPr/>
          <p:nvPr/>
        </p:nvGrpSpPr>
        <p:grpSpPr>
          <a:xfrm rot="0">
            <a:off x="9738360" y="4279392"/>
            <a:ext cx="411480" cy="411480"/>
            <a:chOff x="0" y="0"/>
            <a:chExt cx="548640" cy="54864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AFAFAF"/>
            </a:solidFill>
          </p:spPr>
        </p:sp>
      </p:grpSp>
      <p:grpSp>
        <p:nvGrpSpPr>
          <p:cNvPr name="Group 60" id="60"/>
          <p:cNvGrpSpPr/>
          <p:nvPr/>
        </p:nvGrpSpPr>
        <p:grpSpPr>
          <a:xfrm rot="0">
            <a:off x="9738360" y="4279392"/>
            <a:ext cx="411480" cy="411480"/>
            <a:chOff x="0" y="0"/>
            <a:chExt cx="548640" cy="548640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0"/>
                  </a:moveTo>
                  <a:lnTo>
                    <a:pt x="548640" y="0"/>
                  </a:lnTo>
                  <a:lnTo>
                    <a:pt x="54864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-19050"/>
              <a:ext cx="54864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✕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10355580" y="4197096"/>
            <a:ext cx="6720840" cy="822960"/>
            <a:chOff x="0" y="0"/>
            <a:chExt cx="8961120" cy="1097280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8961120" cy="1097280"/>
            </a:xfrm>
            <a:custGeom>
              <a:avLst/>
              <a:gdLst/>
              <a:ahLst/>
              <a:cxnLst/>
              <a:rect r="r" b="b" t="t" l="l"/>
              <a:pathLst>
                <a:path h="1097280" w="8961120">
                  <a:moveTo>
                    <a:pt x="0" y="0"/>
                  </a:moveTo>
                  <a:lnTo>
                    <a:pt x="8961120" y="0"/>
                  </a:lnTo>
                  <a:lnTo>
                    <a:pt x="89611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9127" r="0" b="-109127"/>
              </a:stretch>
            </a:blipFill>
          </p:spPr>
        </p:sp>
        <p:sp>
          <p:nvSpPr>
            <p:cNvPr name="TextBox 65" id="65"/>
            <p:cNvSpPr txBox="true"/>
            <p:nvPr/>
          </p:nvSpPr>
          <p:spPr>
            <a:xfrm>
              <a:off x="0" y="-57150"/>
              <a:ext cx="8961120" cy="11544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75"/>
                </a:lnSpc>
              </a:pPr>
              <a:r>
                <a:rPr lang="en-US" sz="1875">
                  <a:solidFill>
                    <a:srgbClr val="5B6E7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Pagos</a:t>
              </a:r>
            </a:p>
          </p:txBody>
        </p:sp>
      </p:grpSp>
      <p:grpSp>
        <p:nvGrpSpPr>
          <p:cNvPr name="Group 66" id="66"/>
          <p:cNvGrpSpPr/>
          <p:nvPr/>
        </p:nvGrpSpPr>
        <p:grpSpPr>
          <a:xfrm rot="0">
            <a:off x="9738360" y="5266944"/>
            <a:ext cx="411480" cy="411480"/>
            <a:chOff x="0" y="0"/>
            <a:chExt cx="548640" cy="548640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AFAFAF"/>
            </a:solidFill>
          </p:spPr>
        </p:sp>
      </p:grpSp>
      <p:grpSp>
        <p:nvGrpSpPr>
          <p:cNvPr name="Group 68" id="68"/>
          <p:cNvGrpSpPr/>
          <p:nvPr/>
        </p:nvGrpSpPr>
        <p:grpSpPr>
          <a:xfrm rot="0">
            <a:off x="9738360" y="5266944"/>
            <a:ext cx="411480" cy="411480"/>
            <a:chOff x="0" y="0"/>
            <a:chExt cx="548640" cy="54864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0"/>
                  </a:moveTo>
                  <a:lnTo>
                    <a:pt x="548640" y="0"/>
                  </a:lnTo>
                  <a:lnTo>
                    <a:pt x="54864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70" id="70"/>
            <p:cNvSpPr txBox="true"/>
            <p:nvPr/>
          </p:nvSpPr>
          <p:spPr>
            <a:xfrm>
              <a:off x="0" y="-19050"/>
              <a:ext cx="54864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✕</a:t>
              </a:r>
            </a:p>
          </p:txBody>
        </p:sp>
      </p:grpSp>
      <p:grpSp>
        <p:nvGrpSpPr>
          <p:cNvPr name="Group 71" id="71"/>
          <p:cNvGrpSpPr/>
          <p:nvPr/>
        </p:nvGrpSpPr>
        <p:grpSpPr>
          <a:xfrm rot="0">
            <a:off x="10355580" y="5184648"/>
            <a:ext cx="6720840" cy="822960"/>
            <a:chOff x="0" y="0"/>
            <a:chExt cx="8961120" cy="1097280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8961120" cy="1097280"/>
            </a:xfrm>
            <a:custGeom>
              <a:avLst/>
              <a:gdLst/>
              <a:ahLst/>
              <a:cxnLst/>
              <a:rect r="r" b="b" t="t" l="l"/>
              <a:pathLst>
                <a:path h="1097280" w="8961120">
                  <a:moveTo>
                    <a:pt x="0" y="0"/>
                  </a:moveTo>
                  <a:lnTo>
                    <a:pt x="8961120" y="0"/>
                  </a:lnTo>
                  <a:lnTo>
                    <a:pt x="89611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9127" r="0" b="-109127"/>
              </a:stretch>
            </a:blipFill>
          </p:spPr>
        </p:sp>
        <p:sp>
          <p:nvSpPr>
            <p:cNvPr name="TextBox 73" id="73"/>
            <p:cNvSpPr txBox="true"/>
            <p:nvPr/>
          </p:nvSpPr>
          <p:spPr>
            <a:xfrm>
              <a:off x="0" y="-57150"/>
              <a:ext cx="8961120" cy="11544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75"/>
                </a:lnSpc>
              </a:pPr>
              <a:r>
                <a:rPr lang="en-US" sz="1875">
                  <a:solidFill>
                    <a:srgbClr val="5B6E7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Verificación avanzada de profesionales</a:t>
              </a:r>
            </a:p>
          </p:txBody>
        </p:sp>
      </p:grpSp>
      <p:grpSp>
        <p:nvGrpSpPr>
          <p:cNvPr name="Group 74" id="74"/>
          <p:cNvGrpSpPr/>
          <p:nvPr/>
        </p:nvGrpSpPr>
        <p:grpSpPr>
          <a:xfrm rot="0">
            <a:off x="9738360" y="6254496"/>
            <a:ext cx="411480" cy="411480"/>
            <a:chOff x="0" y="0"/>
            <a:chExt cx="548640" cy="548640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AFAFAF"/>
            </a:solidFill>
          </p:spPr>
        </p:sp>
      </p:grpSp>
      <p:grpSp>
        <p:nvGrpSpPr>
          <p:cNvPr name="Group 76" id="76"/>
          <p:cNvGrpSpPr/>
          <p:nvPr/>
        </p:nvGrpSpPr>
        <p:grpSpPr>
          <a:xfrm rot="0">
            <a:off x="9738360" y="6254496"/>
            <a:ext cx="411480" cy="411480"/>
            <a:chOff x="0" y="0"/>
            <a:chExt cx="548640" cy="548640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0"/>
                  </a:moveTo>
                  <a:lnTo>
                    <a:pt x="548640" y="0"/>
                  </a:lnTo>
                  <a:lnTo>
                    <a:pt x="54864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78" id="78"/>
            <p:cNvSpPr txBox="true"/>
            <p:nvPr/>
          </p:nvSpPr>
          <p:spPr>
            <a:xfrm>
              <a:off x="0" y="-19050"/>
              <a:ext cx="54864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✕</a:t>
              </a:r>
            </a:p>
          </p:txBody>
        </p:sp>
      </p:grpSp>
      <p:grpSp>
        <p:nvGrpSpPr>
          <p:cNvPr name="Group 79" id="79"/>
          <p:cNvGrpSpPr/>
          <p:nvPr/>
        </p:nvGrpSpPr>
        <p:grpSpPr>
          <a:xfrm rot="0">
            <a:off x="10355580" y="6172200"/>
            <a:ext cx="6720840" cy="822960"/>
            <a:chOff x="0" y="0"/>
            <a:chExt cx="8961120" cy="1097280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8961120" cy="1097280"/>
            </a:xfrm>
            <a:custGeom>
              <a:avLst/>
              <a:gdLst/>
              <a:ahLst/>
              <a:cxnLst/>
              <a:rect r="r" b="b" t="t" l="l"/>
              <a:pathLst>
                <a:path h="1097280" w="8961120">
                  <a:moveTo>
                    <a:pt x="0" y="0"/>
                  </a:moveTo>
                  <a:lnTo>
                    <a:pt x="8961120" y="0"/>
                  </a:lnTo>
                  <a:lnTo>
                    <a:pt x="89611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9127" r="0" b="-109127"/>
              </a:stretch>
            </a:blipFill>
          </p:spPr>
        </p:sp>
        <p:sp>
          <p:nvSpPr>
            <p:cNvPr name="TextBox 81" id="81"/>
            <p:cNvSpPr txBox="true"/>
            <p:nvPr/>
          </p:nvSpPr>
          <p:spPr>
            <a:xfrm>
              <a:off x="0" y="-57150"/>
              <a:ext cx="8961120" cy="11544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75"/>
                </a:lnSpc>
              </a:pPr>
              <a:r>
                <a:rPr lang="en-US" sz="1875">
                  <a:solidFill>
                    <a:srgbClr val="5B6E7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Integraciones con wearables</a:t>
              </a:r>
            </a:p>
          </p:txBody>
        </p:sp>
      </p:grpSp>
      <p:grpSp>
        <p:nvGrpSpPr>
          <p:cNvPr name="Group 82" id="82"/>
          <p:cNvGrpSpPr/>
          <p:nvPr/>
        </p:nvGrpSpPr>
        <p:grpSpPr>
          <a:xfrm rot="0">
            <a:off x="822960" y="7612380"/>
            <a:ext cx="16596360" cy="1165860"/>
            <a:chOff x="0" y="0"/>
            <a:chExt cx="22128480" cy="1554480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22128480" cy="1554480"/>
            </a:xfrm>
            <a:custGeom>
              <a:avLst/>
              <a:gdLst/>
              <a:ahLst/>
              <a:cxnLst/>
              <a:rect r="r" b="b" t="t" l="l"/>
              <a:pathLst>
                <a:path h="1554480" w="2212848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21982176" y="0"/>
                  </a:lnTo>
                  <a:cubicBezTo>
                    <a:pt x="22062948" y="0"/>
                    <a:pt x="22128480" y="65532"/>
                    <a:pt x="22128480" y="146304"/>
                  </a:cubicBezTo>
                  <a:lnTo>
                    <a:pt x="22128480" y="1408176"/>
                  </a:lnTo>
                  <a:cubicBezTo>
                    <a:pt x="22128480" y="1488948"/>
                    <a:pt x="22062948" y="1554480"/>
                    <a:pt x="21982176" y="1554480"/>
                  </a:cubicBezTo>
                  <a:lnTo>
                    <a:pt x="146304" y="1554480"/>
                  </a:lnTo>
                  <a:cubicBezTo>
                    <a:pt x="65532" y="1554480"/>
                    <a:pt x="0" y="1488948"/>
                    <a:pt x="0" y="1408176"/>
                  </a:cubicBezTo>
                  <a:close/>
                </a:path>
              </a:pathLst>
            </a:custGeom>
            <a:solidFill>
              <a:srgbClr val="01444C"/>
            </a:solidFill>
          </p:spPr>
        </p:sp>
      </p:grpSp>
      <p:grpSp>
        <p:nvGrpSpPr>
          <p:cNvPr name="Group 84" id="84"/>
          <p:cNvGrpSpPr/>
          <p:nvPr/>
        </p:nvGrpSpPr>
        <p:grpSpPr>
          <a:xfrm rot="0">
            <a:off x="1234440" y="7612380"/>
            <a:ext cx="15773400" cy="1165860"/>
            <a:chOff x="0" y="0"/>
            <a:chExt cx="21031200" cy="1554480"/>
          </a:xfrm>
        </p:grpSpPr>
        <p:sp>
          <p:nvSpPr>
            <p:cNvPr name="Freeform 85" id="85"/>
            <p:cNvSpPr/>
            <p:nvPr/>
          </p:nvSpPr>
          <p:spPr>
            <a:xfrm flipH="false" flipV="false" rot="0">
              <a:off x="0" y="0"/>
              <a:ext cx="21031200" cy="1554480"/>
            </a:xfrm>
            <a:custGeom>
              <a:avLst/>
              <a:gdLst/>
              <a:ahLst/>
              <a:cxnLst/>
              <a:rect r="r" b="b" t="t" l="l"/>
              <a:pathLst>
                <a:path h="1554480" w="21031200">
                  <a:moveTo>
                    <a:pt x="0" y="0"/>
                  </a:moveTo>
                  <a:lnTo>
                    <a:pt x="21031200" y="0"/>
                  </a:lnTo>
                  <a:lnTo>
                    <a:pt x="21031200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3621" r="0" b="-213621"/>
              </a:stretch>
            </a:blipFill>
          </p:spPr>
        </p:sp>
        <p:sp>
          <p:nvSpPr>
            <p:cNvPr name="TextBox 86" id="86"/>
            <p:cNvSpPr txBox="true"/>
            <p:nvPr/>
          </p:nvSpPr>
          <p:spPr>
            <a:xfrm>
              <a:off x="0" y="-66675"/>
              <a:ext cx="21031200" cy="16211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87"/>
                </a:lnSpc>
              </a:pPr>
              <a:r>
                <a:rPr lang="en-US" sz="1875">
                  <a:solidFill>
                    <a:srgbClr val="F4FAF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Restricciones: equipo de 3 integrantes · 18 semanas (11 efectivas de construcción) · dependencia de Google Maps Platform y de la API de Claude (Anthropic)</a:t>
              </a:r>
            </a:p>
          </p:txBody>
        </p:sp>
      </p:grpSp>
      <p:grpSp>
        <p:nvGrpSpPr>
          <p:cNvPr name="Group 87" id="87"/>
          <p:cNvGrpSpPr/>
          <p:nvPr/>
        </p:nvGrpSpPr>
        <p:grpSpPr>
          <a:xfrm rot="0">
            <a:off x="685800" y="9710928"/>
            <a:ext cx="10972800" cy="411480"/>
            <a:chOff x="0" y="0"/>
            <a:chExt cx="14630400" cy="548640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0" y="0"/>
              <a:ext cx="14630400" cy="548640"/>
            </a:xfrm>
            <a:custGeom>
              <a:avLst/>
              <a:gdLst/>
              <a:ahLst/>
              <a:cxnLst/>
              <a:rect r="r" b="b" t="t" l="l"/>
              <a:pathLst>
                <a:path h="54864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9601" r="0" b="-469601"/>
              </a:stretch>
            </a:blipFill>
          </p:spPr>
        </p:sp>
        <p:sp>
          <p:nvSpPr>
            <p:cNvPr name="TextBox 89" id="89"/>
            <p:cNvSpPr txBox="true"/>
            <p:nvPr/>
          </p:nvSpPr>
          <p:spPr>
            <a:xfrm>
              <a:off x="0" y="-38100"/>
              <a:ext cx="14630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5B6E7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FitSearch — Definición del Proyecto APT (Fase 1)</a:t>
              </a:r>
            </a:p>
          </p:txBody>
        </p:sp>
      </p:grpSp>
      <p:grpSp>
        <p:nvGrpSpPr>
          <p:cNvPr name="Group 90" id="90"/>
          <p:cNvGrpSpPr/>
          <p:nvPr/>
        </p:nvGrpSpPr>
        <p:grpSpPr>
          <a:xfrm rot="0">
            <a:off x="14854428" y="9710928"/>
            <a:ext cx="2743200" cy="411480"/>
            <a:chOff x="0" y="0"/>
            <a:chExt cx="3657600" cy="548640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3657600" cy="548640"/>
            </a:xfrm>
            <a:custGeom>
              <a:avLst/>
              <a:gdLst/>
              <a:ahLst/>
              <a:cxnLst/>
              <a:rect r="r" b="b" t="t" l="l"/>
              <a:pathLst>
                <a:path h="54864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9900" r="0" b="-79900"/>
              </a:stretch>
            </a:blipFill>
          </p:spPr>
        </p:sp>
        <p:sp>
          <p:nvSpPr>
            <p:cNvPr name="TextBox 92" id="92"/>
            <p:cNvSpPr txBox="true"/>
            <p:nvPr/>
          </p:nvSpPr>
          <p:spPr>
            <a:xfrm>
              <a:off x="0" y="-38100"/>
              <a:ext cx="36576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5B6E7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05</a:t>
              </a:r>
            </a:p>
          </p:txBody>
        </p:sp>
      </p:grpSp>
      <p:sp>
        <p:nvSpPr>
          <p:cNvPr name="Freeform 93" id="93"/>
          <p:cNvSpPr/>
          <p:nvPr/>
        </p:nvSpPr>
        <p:spPr>
          <a:xfrm flipH="false" flipV="false" rot="0">
            <a:off x="15560095" y="20760"/>
            <a:ext cx="2727905" cy="668427"/>
          </a:xfrm>
          <a:custGeom>
            <a:avLst/>
            <a:gdLst/>
            <a:ahLst/>
            <a:cxnLst/>
            <a:rect r="r" b="b" t="t" l="l"/>
            <a:pathLst>
              <a:path h="668427" w="2727905">
                <a:moveTo>
                  <a:pt x="0" y="0"/>
                </a:moveTo>
                <a:lnTo>
                  <a:pt x="2727905" y="0"/>
                </a:lnTo>
                <a:lnTo>
                  <a:pt x="2727905" y="668427"/>
                </a:lnTo>
                <a:lnTo>
                  <a:pt x="0" y="66842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94" id="94"/>
          <p:cNvSpPr/>
          <p:nvPr/>
        </p:nvSpPr>
        <p:spPr>
          <a:xfrm flipH="false" flipV="false" rot="0">
            <a:off x="8344186" y="0"/>
            <a:ext cx="1553908" cy="1551492"/>
          </a:xfrm>
          <a:custGeom>
            <a:avLst/>
            <a:gdLst/>
            <a:ahLst/>
            <a:cxnLst/>
            <a:rect r="r" b="b" t="t" l="l"/>
            <a:pathLst>
              <a:path h="1551492" w="1553908">
                <a:moveTo>
                  <a:pt x="0" y="0"/>
                </a:moveTo>
                <a:lnTo>
                  <a:pt x="1553908" y="0"/>
                </a:lnTo>
                <a:lnTo>
                  <a:pt x="1553908" y="1551492"/>
                </a:lnTo>
                <a:lnTo>
                  <a:pt x="0" y="155149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515350" y="133350"/>
            <a:ext cx="1276350" cy="1143000"/>
            <a:chOff x="0" y="0"/>
            <a:chExt cx="1701800" cy="1524000"/>
          </a:xfrm>
        </p:grpSpPr>
        <p:sp>
          <p:nvSpPr>
            <p:cNvPr name="Freeform 3" id="3" descr="fitsearch_logo.png"/>
            <p:cNvSpPr/>
            <p:nvPr/>
          </p:nvSpPr>
          <p:spPr>
            <a:xfrm flipH="false" flipV="false" rot="0">
              <a:off x="0" y="0"/>
              <a:ext cx="1701800" cy="1524000"/>
            </a:xfrm>
            <a:custGeom>
              <a:avLst/>
              <a:gdLst/>
              <a:ahLst/>
              <a:cxnLst/>
              <a:rect r="r" b="b" t="t" l="l"/>
              <a:pathLst>
                <a:path h="1524000" w="1701800">
                  <a:moveTo>
                    <a:pt x="0" y="0"/>
                  </a:moveTo>
                  <a:lnTo>
                    <a:pt x="1701800" y="0"/>
                  </a:lnTo>
                  <a:lnTo>
                    <a:pt x="1701800" y="1524000"/>
                  </a:lnTo>
                  <a:lnTo>
                    <a:pt x="0" y="152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035" t="0" r="-1035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15430500" y="0"/>
            <a:ext cx="2857500" cy="838200"/>
            <a:chOff x="0" y="0"/>
            <a:chExt cx="3810000" cy="1117600"/>
          </a:xfrm>
        </p:grpSpPr>
        <p:sp>
          <p:nvSpPr>
            <p:cNvPr name="Freeform 5" id="5" descr="duoc_logo.png"/>
            <p:cNvSpPr/>
            <p:nvPr/>
          </p:nvSpPr>
          <p:spPr>
            <a:xfrm flipH="false" flipV="false" rot="0">
              <a:off x="0" y="0"/>
              <a:ext cx="3810000" cy="1117600"/>
            </a:xfrm>
            <a:custGeom>
              <a:avLst/>
              <a:gdLst/>
              <a:ahLst/>
              <a:cxnLst/>
              <a:rect r="r" b="b" t="t" l="l"/>
              <a:pathLst>
                <a:path h="1117600" w="3810000">
                  <a:moveTo>
                    <a:pt x="0" y="0"/>
                  </a:moveTo>
                  <a:lnTo>
                    <a:pt x="3810000" y="0"/>
                  </a:lnTo>
                  <a:lnTo>
                    <a:pt x="3810000" y="1117600"/>
                  </a:lnTo>
                  <a:lnTo>
                    <a:pt x="0" y="1117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819150" y="657225"/>
            <a:ext cx="6667500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78"/>
              </a:lnSpc>
            </a:pPr>
            <a:r>
              <a:rPr lang="en-US" sz="1650" b="true">
                <a:solidFill>
                  <a:srgbClr val="00879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PERFIL DE EGRESO · INGENIERÍA EN INFORMÁTICA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19150" y="1266825"/>
            <a:ext cx="16383000" cy="981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40"/>
              </a:lnSpc>
            </a:pPr>
            <a:r>
              <a:rPr lang="en-US" sz="4500" b="true">
                <a:solidFill>
                  <a:srgbClr val="0B3035"/>
                </a:solidFill>
                <a:latin typeface="Cambria Bold"/>
                <a:ea typeface="Cambria Bold"/>
                <a:cs typeface="Cambria Bold"/>
                <a:sym typeface="Cambria Bold"/>
              </a:rPr>
              <a:t>Competencias aplicadas a FitSearch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809625" y="2524125"/>
            <a:ext cx="8115300" cy="2628900"/>
            <a:chOff x="0" y="0"/>
            <a:chExt cx="10820400" cy="35052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820400" cy="3505200"/>
            </a:xfrm>
            <a:custGeom>
              <a:avLst/>
              <a:gdLst/>
              <a:ahLst/>
              <a:cxnLst/>
              <a:rect r="r" b="b" t="t" l="l"/>
              <a:pathLst>
                <a:path h="3505200" w="10820400">
                  <a:moveTo>
                    <a:pt x="0" y="140208"/>
                  </a:moveTo>
                  <a:cubicBezTo>
                    <a:pt x="0" y="62738"/>
                    <a:pt x="62738" y="0"/>
                    <a:pt x="140208" y="0"/>
                  </a:cubicBezTo>
                  <a:lnTo>
                    <a:pt x="10680192" y="0"/>
                  </a:lnTo>
                  <a:cubicBezTo>
                    <a:pt x="10757662" y="0"/>
                    <a:pt x="10820400" y="62738"/>
                    <a:pt x="10820400" y="140208"/>
                  </a:cubicBezTo>
                  <a:lnTo>
                    <a:pt x="10820400" y="3364992"/>
                  </a:lnTo>
                  <a:cubicBezTo>
                    <a:pt x="10820400" y="3442462"/>
                    <a:pt x="10757662" y="3505200"/>
                    <a:pt x="10680192" y="3505200"/>
                  </a:cubicBezTo>
                  <a:lnTo>
                    <a:pt x="140208" y="3505200"/>
                  </a:lnTo>
                  <a:cubicBezTo>
                    <a:pt x="62738" y="3505200"/>
                    <a:pt x="0" y="3442462"/>
                    <a:pt x="0" y="3364992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0AA9D"/>
              </a:solidFill>
              <a:prstDash val="solid"/>
              <a:miter/>
            </a:ln>
          </p:spPr>
        </p:sp>
      </p:grpSp>
      <p:sp>
        <p:nvSpPr>
          <p:cNvPr name="TextBox 10" id="10"/>
          <p:cNvSpPr txBox="true"/>
          <p:nvPr/>
        </p:nvSpPr>
        <p:spPr>
          <a:xfrm rot="0">
            <a:off x="1162050" y="2762250"/>
            <a:ext cx="7429500" cy="533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250" b="true">
                <a:solidFill>
                  <a:srgbClr val="00AA9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C1 · PRUEBAS Y CALIDAD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162050" y="3371850"/>
            <a:ext cx="7486650" cy="1009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250">
                <a:solidFill>
                  <a:srgbClr val="0B3035"/>
                </a:solidFill>
                <a:latin typeface="Calibri (MS)"/>
                <a:ea typeface="Calibri (MS)"/>
                <a:cs typeface="Calibri (MS)"/>
                <a:sym typeface="Calibri (MS)"/>
              </a:rPr>
              <a:t>Diseñar y ejecutar pruebas de registro, búsqueda</a:t>
            </a:r>
          </a:p>
          <a:p>
            <a:pPr algn="l">
              <a:lnSpc>
                <a:spcPts val="2970"/>
              </a:lnSpc>
            </a:pPr>
            <a:r>
              <a:rPr lang="en-US" sz="2250">
                <a:solidFill>
                  <a:srgbClr val="0B3035"/>
                </a:solidFill>
                <a:latin typeface="Calibri (MS)"/>
                <a:ea typeface="Calibri (MS)"/>
                <a:cs typeface="Calibri (MS)"/>
                <a:sym typeface="Calibri (MS)"/>
              </a:rPr>
              <a:t>y alimentación; corregir fallos y volver a validar.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162050" y="4476750"/>
            <a:ext cx="7486650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76"/>
              </a:lnSpc>
            </a:pPr>
            <a:r>
              <a:rPr lang="en-US" sz="1800">
                <a:solidFill>
                  <a:srgbClr val="586E72"/>
                </a:solidFill>
                <a:latin typeface="Calibri (MS)"/>
                <a:ea typeface="Calibri (MS)"/>
                <a:cs typeface="Calibri (MS)"/>
                <a:sym typeface="Calibri (MS)"/>
              </a:rPr>
              <a:t>Evidencia: casos, resultados y correcciones.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9305925" y="2524125"/>
            <a:ext cx="8115300" cy="2628900"/>
            <a:chOff x="0" y="0"/>
            <a:chExt cx="10820400" cy="35052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0820400" cy="3505200"/>
            </a:xfrm>
            <a:custGeom>
              <a:avLst/>
              <a:gdLst/>
              <a:ahLst/>
              <a:cxnLst/>
              <a:rect r="r" b="b" t="t" l="l"/>
              <a:pathLst>
                <a:path h="3505200" w="10820400">
                  <a:moveTo>
                    <a:pt x="0" y="140208"/>
                  </a:moveTo>
                  <a:cubicBezTo>
                    <a:pt x="0" y="62738"/>
                    <a:pt x="62738" y="0"/>
                    <a:pt x="140208" y="0"/>
                  </a:cubicBezTo>
                  <a:lnTo>
                    <a:pt x="10680192" y="0"/>
                  </a:lnTo>
                  <a:cubicBezTo>
                    <a:pt x="10757662" y="0"/>
                    <a:pt x="10820400" y="62738"/>
                    <a:pt x="10820400" y="140208"/>
                  </a:cubicBezTo>
                  <a:lnTo>
                    <a:pt x="10820400" y="3364992"/>
                  </a:lnTo>
                  <a:cubicBezTo>
                    <a:pt x="10820400" y="3442462"/>
                    <a:pt x="10757662" y="3505200"/>
                    <a:pt x="10680192" y="3505200"/>
                  </a:cubicBezTo>
                  <a:lnTo>
                    <a:pt x="140208" y="3505200"/>
                  </a:lnTo>
                  <a:cubicBezTo>
                    <a:pt x="62738" y="3505200"/>
                    <a:pt x="0" y="3442462"/>
                    <a:pt x="0" y="3364992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0AA9D"/>
              </a:solidFill>
              <a:prstDash val="solid"/>
              <a:miter/>
            </a:ln>
          </p:spPr>
        </p:sp>
      </p:grpSp>
      <p:sp>
        <p:nvSpPr>
          <p:cNvPr name="TextBox 15" id="15"/>
          <p:cNvSpPr txBox="true"/>
          <p:nvPr/>
        </p:nvSpPr>
        <p:spPr>
          <a:xfrm rot="0">
            <a:off x="9658350" y="2762250"/>
            <a:ext cx="7429500" cy="533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250" b="true">
                <a:solidFill>
                  <a:srgbClr val="00AA9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C2 · GESTIÓN DE PROYECTOS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658350" y="3371850"/>
            <a:ext cx="7486650" cy="1009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250">
                <a:solidFill>
                  <a:srgbClr val="0B3035"/>
                </a:solidFill>
                <a:latin typeface="Calibri (MS)"/>
                <a:ea typeface="Calibri (MS)"/>
                <a:cs typeface="Calibri (MS)"/>
                <a:sym typeface="Calibri (MS)"/>
              </a:rPr>
              <a:t>Planificar y controlar el MVP con Scrum,</a:t>
            </a:r>
          </a:p>
          <a:p>
            <a:pPr algn="l">
              <a:lnSpc>
                <a:spcPts val="2970"/>
              </a:lnSpc>
            </a:pPr>
            <a:r>
              <a:rPr lang="en-US" sz="2250">
                <a:solidFill>
                  <a:srgbClr val="0B3035"/>
                </a:solidFill>
                <a:latin typeface="Calibri (MS)"/>
                <a:ea typeface="Calibri (MS)"/>
                <a:cs typeface="Calibri (MS)"/>
                <a:sym typeface="Calibri (MS)"/>
              </a:rPr>
              <a:t>priorizando el backlog y revisando cada sprint.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658350" y="4476750"/>
            <a:ext cx="7486650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76"/>
              </a:lnSpc>
            </a:pPr>
            <a:r>
              <a:rPr lang="en-US" sz="1800">
                <a:solidFill>
                  <a:srgbClr val="586E72"/>
                </a:solidFill>
                <a:latin typeface="Calibri (MS)"/>
                <a:ea typeface="Calibri (MS)"/>
                <a:cs typeface="Calibri (MS)"/>
                <a:sym typeface="Calibri (MS)"/>
              </a:rPr>
              <a:t>Evidencia: backlog, tablero y retrospectivas.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809625" y="5457825"/>
            <a:ext cx="8115300" cy="2628900"/>
            <a:chOff x="0" y="0"/>
            <a:chExt cx="10820400" cy="35052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0820400" cy="3505200"/>
            </a:xfrm>
            <a:custGeom>
              <a:avLst/>
              <a:gdLst/>
              <a:ahLst/>
              <a:cxnLst/>
              <a:rect r="r" b="b" t="t" l="l"/>
              <a:pathLst>
                <a:path h="3505200" w="10820400">
                  <a:moveTo>
                    <a:pt x="0" y="140208"/>
                  </a:moveTo>
                  <a:cubicBezTo>
                    <a:pt x="0" y="62738"/>
                    <a:pt x="62738" y="0"/>
                    <a:pt x="140208" y="0"/>
                  </a:cubicBezTo>
                  <a:lnTo>
                    <a:pt x="10680192" y="0"/>
                  </a:lnTo>
                  <a:cubicBezTo>
                    <a:pt x="10757662" y="0"/>
                    <a:pt x="10820400" y="62738"/>
                    <a:pt x="10820400" y="140208"/>
                  </a:cubicBezTo>
                  <a:lnTo>
                    <a:pt x="10820400" y="3364992"/>
                  </a:lnTo>
                  <a:cubicBezTo>
                    <a:pt x="10820400" y="3442462"/>
                    <a:pt x="10757662" y="3505200"/>
                    <a:pt x="10680192" y="3505200"/>
                  </a:cubicBezTo>
                  <a:lnTo>
                    <a:pt x="140208" y="3505200"/>
                  </a:lnTo>
                  <a:cubicBezTo>
                    <a:pt x="62738" y="3505200"/>
                    <a:pt x="0" y="3442462"/>
                    <a:pt x="0" y="3364992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0AA9D"/>
              </a:solidFill>
              <a:prstDash val="solid"/>
              <a:miter/>
            </a:ln>
          </p:spPr>
        </p:sp>
      </p:grpSp>
      <p:sp>
        <p:nvSpPr>
          <p:cNvPr name="TextBox 20" id="20"/>
          <p:cNvSpPr txBox="true"/>
          <p:nvPr/>
        </p:nvSpPr>
        <p:spPr>
          <a:xfrm rot="0">
            <a:off x="1162050" y="5695950"/>
            <a:ext cx="7429500" cy="533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250" b="true">
                <a:solidFill>
                  <a:srgbClr val="00AA9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C3 · MODELOS DE DATOS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162050" y="6305550"/>
            <a:ext cx="7486650" cy="1009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250">
                <a:solidFill>
                  <a:srgbClr val="0B3035"/>
                </a:solidFill>
                <a:latin typeface="Calibri (MS)"/>
                <a:ea typeface="Calibri (MS)"/>
                <a:cs typeface="Calibri (MS)"/>
                <a:sym typeface="Calibri (MS)"/>
              </a:rPr>
              <a:t>Diseñar e implementar en MySQL los datos de</a:t>
            </a:r>
          </a:p>
          <a:p>
            <a:pPr algn="l">
              <a:lnSpc>
                <a:spcPts val="2970"/>
              </a:lnSpc>
            </a:pPr>
            <a:r>
              <a:rPr lang="en-US" sz="2250">
                <a:solidFill>
                  <a:srgbClr val="0B3035"/>
                </a:solidFill>
                <a:latin typeface="Calibri (MS)"/>
                <a:ea typeface="Calibri (MS)"/>
                <a:cs typeface="Calibri (MS)"/>
                <a:sym typeface="Calibri (MS)"/>
              </a:rPr>
              <a:t>usuarios, profesionales, chats y alimentación.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162050" y="7410450"/>
            <a:ext cx="7486650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76"/>
              </a:lnSpc>
            </a:pPr>
            <a:r>
              <a:rPr lang="en-US" sz="1800">
                <a:solidFill>
                  <a:srgbClr val="586E72"/>
                </a:solidFill>
                <a:latin typeface="Calibri (MS)"/>
                <a:ea typeface="Calibri (MS)"/>
                <a:cs typeface="Calibri (MS)"/>
                <a:sym typeface="Calibri (MS)"/>
              </a:rPr>
              <a:t>Evidencia: modelo entidad-relación y scripts.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9305925" y="5457825"/>
            <a:ext cx="8115300" cy="2628900"/>
            <a:chOff x="0" y="0"/>
            <a:chExt cx="10820400" cy="35052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0820400" cy="3505200"/>
            </a:xfrm>
            <a:custGeom>
              <a:avLst/>
              <a:gdLst/>
              <a:ahLst/>
              <a:cxnLst/>
              <a:rect r="r" b="b" t="t" l="l"/>
              <a:pathLst>
                <a:path h="3505200" w="10820400">
                  <a:moveTo>
                    <a:pt x="0" y="140208"/>
                  </a:moveTo>
                  <a:cubicBezTo>
                    <a:pt x="0" y="62738"/>
                    <a:pt x="62738" y="0"/>
                    <a:pt x="140208" y="0"/>
                  </a:cubicBezTo>
                  <a:lnTo>
                    <a:pt x="10680192" y="0"/>
                  </a:lnTo>
                  <a:cubicBezTo>
                    <a:pt x="10757662" y="0"/>
                    <a:pt x="10820400" y="62738"/>
                    <a:pt x="10820400" y="140208"/>
                  </a:cubicBezTo>
                  <a:lnTo>
                    <a:pt x="10820400" y="3364992"/>
                  </a:lnTo>
                  <a:cubicBezTo>
                    <a:pt x="10820400" y="3442462"/>
                    <a:pt x="10757662" y="3505200"/>
                    <a:pt x="10680192" y="3505200"/>
                  </a:cubicBezTo>
                  <a:lnTo>
                    <a:pt x="140208" y="3505200"/>
                  </a:lnTo>
                  <a:cubicBezTo>
                    <a:pt x="62738" y="3505200"/>
                    <a:pt x="0" y="3442462"/>
                    <a:pt x="0" y="3364992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0AA9D"/>
              </a:solidFill>
              <a:prstDash val="solid"/>
              <a:miter/>
            </a:ln>
          </p:spPr>
        </p:sp>
      </p:grpSp>
      <p:sp>
        <p:nvSpPr>
          <p:cNvPr name="TextBox 25" id="25"/>
          <p:cNvSpPr txBox="true"/>
          <p:nvPr/>
        </p:nvSpPr>
        <p:spPr>
          <a:xfrm rot="0">
            <a:off x="9658350" y="5695950"/>
            <a:ext cx="7429500" cy="533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250" b="true">
                <a:solidFill>
                  <a:srgbClr val="00AA9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C4 · DESARROLLO DE SOFTWARE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658350" y="6305550"/>
            <a:ext cx="7486650" cy="1009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250">
                <a:solidFill>
                  <a:srgbClr val="0B3035"/>
                </a:solidFill>
                <a:latin typeface="Calibri (MS)"/>
                <a:ea typeface="Calibri (MS)"/>
                <a:cs typeface="Calibri (MS)"/>
                <a:sym typeface="Calibri (MS)"/>
              </a:rPr>
              <a:t>Construir e integrar React, Node.js, mapas e IA;</a:t>
            </a:r>
          </a:p>
          <a:p>
            <a:pPr algn="l">
              <a:lnSpc>
                <a:spcPts val="2970"/>
              </a:lnSpc>
            </a:pPr>
            <a:r>
              <a:rPr lang="en-US" sz="2250">
                <a:solidFill>
                  <a:srgbClr val="0B3035"/>
                </a:solidFill>
                <a:latin typeface="Calibri (MS)"/>
                <a:ea typeface="Calibri (MS)"/>
                <a:cs typeface="Calibri (MS)"/>
                <a:sym typeface="Calibri (MS)"/>
              </a:rPr>
              <a:t>desplegar la solución mediante Docker.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9658350" y="7410450"/>
            <a:ext cx="7486650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76"/>
              </a:lnSpc>
            </a:pPr>
            <a:r>
              <a:rPr lang="en-US" sz="1800">
                <a:solidFill>
                  <a:srgbClr val="586E72"/>
                </a:solidFill>
                <a:latin typeface="Calibri (MS)"/>
                <a:ea typeface="Calibri (MS)"/>
                <a:cs typeface="Calibri (MS)"/>
                <a:sym typeface="Calibri (MS)"/>
              </a:rPr>
              <a:t>Evidencia: repositorio y aplicación desplegable.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809625" y="8620125"/>
            <a:ext cx="16611600" cy="762000"/>
            <a:chOff x="0" y="0"/>
            <a:chExt cx="22148800" cy="10160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2148800" cy="1016000"/>
            </a:xfrm>
            <a:custGeom>
              <a:avLst/>
              <a:gdLst/>
              <a:ahLst/>
              <a:cxnLst/>
              <a:rect r="r" b="b" t="t" l="l"/>
              <a:pathLst>
                <a:path h="1016000" w="22148800">
                  <a:moveTo>
                    <a:pt x="0" y="40640"/>
                  </a:moveTo>
                  <a:cubicBezTo>
                    <a:pt x="0" y="18161"/>
                    <a:pt x="18161" y="0"/>
                    <a:pt x="40640" y="0"/>
                  </a:cubicBezTo>
                  <a:lnTo>
                    <a:pt x="22108161" y="0"/>
                  </a:lnTo>
                  <a:cubicBezTo>
                    <a:pt x="22130640" y="0"/>
                    <a:pt x="22148800" y="18161"/>
                    <a:pt x="22148800" y="40640"/>
                  </a:cubicBezTo>
                  <a:lnTo>
                    <a:pt x="22148800" y="975360"/>
                  </a:lnTo>
                  <a:cubicBezTo>
                    <a:pt x="22148800" y="997839"/>
                    <a:pt x="22130640" y="1016000"/>
                    <a:pt x="22108161" y="1016000"/>
                  </a:cubicBezTo>
                  <a:lnTo>
                    <a:pt x="40640" y="1016000"/>
                  </a:lnTo>
                  <a:cubicBezTo>
                    <a:pt x="18161" y="1016000"/>
                    <a:pt x="0" y="997839"/>
                    <a:pt x="0" y="975360"/>
                  </a:cubicBezTo>
                  <a:close/>
                </a:path>
              </a:pathLst>
            </a:custGeom>
            <a:solidFill>
              <a:srgbClr val="004C52"/>
            </a:solidFill>
            <a:ln w="19050" cap="sq">
              <a:solidFill>
                <a:srgbClr val="004C52"/>
              </a:solidFill>
              <a:prstDash val="solid"/>
              <a:miter/>
            </a:ln>
          </p:spPr>
        </p:sp>
      </p:grpSp>
      <p:sp>
        <p:nvSpPr>
          <p:cNvPr name="TextBox 30" id="30"/>
          <p:cNvSpPr txBox="true"/>
          <p:nvPr/>
        </p:nvSpPr>
        <p:spPr>
          <a:xfrm rot="0">
            <a:off x="1123950" y="8753475"/>
            <a:ext cx="16002000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72"/>
              </a:lnSpc>
            </a:pPr>
            <a:r>
              <a:rPr lang="en-US" sz="21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Aplicación prevista durante el desarrollo: planificar, construir, validar y mejorar el MVP.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685800" y="9801225"/>
            <a:ext cx="14859000" cy="352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500">
                <a:solidFill>
                  <a:srgbClr val="586E72"/>
                </a:solidFill>
                <a:latin typeface="Calibri (MS)"/>
                <a:ea typeface="Calibri (MS)"/>
                <a:cs typeface="Calibri (MS)"/>
                <a:sym typeface="Calibri (MS)"/>
              </a:rPr>
              <a:t>FitSearch — Definición del Proyecto APT · Fuente: rúbrica de Fase 1 y guía 1.5 del proyecto.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617220"/>
            <a:ext cx="10972800" cy="480060"/>
            <a:chOff x="0" y="0"/>
            <a:chExt cx="14630400" cy="6400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630400" cy="640080"/>
            </a:xfrm>
            <a:custGeom>
              <a:avLst/>
              <a:gdLst/>
              <a:ahLst/>
              <a:cxnLst/>
              <a:rect r="r" b="b" t="t" l="l"/>
              <a:pathLst>
                <a:path h="64008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95372" r="0" b="-39537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14630400" cy="6877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 spc="299">
                  <a:solidFill>
                    <a:srgbClr val="02809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 · HITOS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22960" y="1069848"/>
            <a:ext cx="15087600" cy="1028700"/>
            <a:chOff x="0" y="0"/>
            <a:chExt cx="20116800" cy="13716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0116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20116800">
                  <a:moveTo>
                    <a:pt x="0" y="0"/>
                  </a:moveTo>
                  <a:lnTo>
                    <a:pt x="20116800" y="0"/>
                  </a:lnTo>
                  <a:lnTo>
                    <a:pt x="20116800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5780" r="0" b="-2357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9525"/>
              <a:ext cx="20116800" cy="13811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120"/>
                </a:lnSpc>
              </a:pPr>
              <a:r>
                <a:rPr lang="en-US" sz="5100" b="true">
                  <a:solidFill>
                    <a:srgbClr val="0B2B2E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Etapas de desarrollo</a:t>
              </a:r>
            </a:p>
          </p:txBody>
        </p:sp>
      </p:grpSp>
      <p:sp>
        <p:nvSpPr>
          <p:cNvPr name="AutoShape 8" id="8"/>
          <p:cNvSpPr/>
          <p:nvPr/>
        </p:nvSpPr>
        <p:spPr>
          <a:xfrm rot="9240">
            <a:off x="1311373" y="4173855"/>
            <a:ext cx="14193060" cy="0"/>
          </a:xfrm>
          <a:prstGeom prst="line">
            <a:avLst/>
          </a:prstGeom>
          <a:ln cap="rnd" w="19050">
            <a:solidFill>
              <a:srgbClr val="CBDCDA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9" id="9"/>
          <p:cNvGrpSpPr/>
          <p:nvPr/>
        </p:nvGrpSpPr>
        <p:grpSpPr>
          <a:xfrm rot="0">
            <a:off x="1009650" y="3862578"/>
            <a:ext cx="641604" cy="641604"/>
            <a:chOff x="0" y="0"/>
            <a:chExt cx="855472" cy="855472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55472" cy="855472"/>
            </a:xfrm>
            <a:custGeom>
              <a:avLst/>
              <a:gdLst/>
              <a:ahLst/>
              <a:cxnLst/>
              <a:rect r="r" b="b" t="t" l="l"/>
              <a:pathLst>
                <a:path h="855472" w="855472">
                  <a:moveTo>
                    <a:pt x="0" y="427736"/>
                  </a:moveTo>
                  <a:cubicBezTo>
                    <a:pt x="0" y="191516"/>
                    <a:pt x="191516" y="0"/>
                    <a:pt x="427736" y="0"/>
                  </a:cubicBezTo>
                  <a:cubicBezTo>
                    <a:pt x="663956" y="0"/>
                    <a:pt x="855472" y="191516"/>
                    <a:pt x="855472" y="427736"/>
                  </a:cubicBezTo>
                  <a:cubicBezTo>
                    <a:pt x="855472" y="663956"/>
                    <a:pt x="663956" y="855472"/>
                    <a:pt x="427736" y="855472"/>
                  </a:cubicBezTo>
                  <a:cubicBezTo>
                    <a:pt x="191516" y="855472"/>
                    <a:pt x="0" y="663956"/>
                    <a:pt x="0" y="427736"/>
                  </a:cubicBezTo>
                  <a:close/>
                </a:path>
              </a:pathLst>
            </a:custGeom>
            <a:solidFill>
              <a:srgbClr val="028090"/>
            </a:solidFill>
            <a:ln w="38100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274320" y="2057400"/>
            <a:ext cx="2194560" cy="480060"/>
            <a:chOff x="0" y="0"/>
            <a:chExt cx="2926080" cy="64008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926080" cy="640080"/>
            </a:xfrm>
            <a:custGeom>
              <a:avLst/>
              <a:gdLst/>
              <a:ahLst/>
              <a:cxnLst/>
              <a:rect r="r" b="b" t="t" l="l"/>
              <a:pathLst>
                <a:path h="640080" w="2926080">
                  <a:moveTo>
                    <a:pt x="0" y="0"/>
                  </a:moveTo>
                  <a:lnTo>
                    <a:pt x="2926080" y="0"/>
                  </a:lnTo>
                  <a:lnTo>
                    <a:pt x="292608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9074" r="0" b="-39074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2926080" cy="6591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0B2B2E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Fase 1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0" y="2537460"/>
            <a:ext cx="2743200" cy="1165860"/>
            <a:chOff x="0" y="0"/>
            <a:chExt cx="3657600" cy="155448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3657600" cy="1554480"/>
            </a:xfrm>
            <a:custGeom>
              <a:avLst/>
              <a:gdLst/>
              <a:ahLst/>
              <a:cxnLst/>
              <a:rect r="r" b="b" t="t" l="l"/>
              <a:pathLst>
                <a:path h="155448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529" t="0" r="-4529" b="0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3657600" cy="15925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95"/>
                </a:lnSpc>
              </a:pPr>
              <a:r>
                <a:rPr lang="en-US" sz="1425">
                  <a:solidFill>
                    <a:srgbClr val="5B6E7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Definición del proyecto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274320" y="4663440"/>
            <a:ext cx="2194560" cy="411480"/>
            <a:chOff x="0" y="0"/>
            <a:chExt cx="2926080" cy="54864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926080" cy="548640"/>
            </a:xfrm>
            <a:custGeom>
              <a:avLst/>
              <a:gdLst/>
              <a:ahLst/>
              <a:cxnLst/>
              <a:rect r="r" b="b" t="t" l="l"/>
              <a:pathLst>
                <a:path h="548640" w="2926080">
                  <a:moveTo>
                    <a:pt x="0" y="0"/>
                  </a:moveTo>
                  <a:lnTo>
                    <a:pt x="2926080" y="0"/>
                  </a:lnTo>
                  <a:lnTo>
                    <a:pt x="29260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3920" r="0" b="-53920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92608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09"/>
                </a:lnSpc>
              </a:pPr>
              <a:r>
                <a:rPr lang="en-US" b="true" sz="1425" i="true">
                  <a:solidFill>
                    <a:srgbClr val="028090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Semanas 1-4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3368802" y="3862578"/>
            <a:ext cx="641604" cy="641604"/>
            <a:chOff x="0" y="0"/>
            <a:chExt cx="855472" cy="855472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55472" cy="855472"/>
            </a:xfrm>
            <a:custGeom>
              <a:avLst/>
              <a:gdLst/>
              <a:ahLst/>
              <a:cxnLst/>
              <a:rect r="r" b="b" t="t" l="l"/>
              <a:pathLst>
                <a:path h="855472" w="855472">
                  <a:moveTo>
                    <a:pt x="0" y="427736"/>
                  </a:moveTo>
                  <a:cubicBezTo>
                    <a:pt x="0" y="191516"/>
                    <a:pt x="191516" y="0"/>
                    <a:pt x="427736" y="0"/>
                  </a:cubicBezTo>
                  <a:cubicBezTo>
                    <a:pt x="663956" y="0"/>
                    <a:pt x="855472" y="191516"/>
                    <a:pt x="855472" y="427736"/>
                  </a:cubicBezTo>
                  <a:cubicBezTo>
                    <a:pt x="855472" y="663956"/>
                    <a:pt x="663956" y="855472"/>
                    <a:pt x="427736" y="855472"/>
                  </a:cubicBezTo>
                  <a:cubicBezTo>
                    <a:pt x="191516" y="855472"/>
                    <a:pt x="0" y="663956"/>
                    <a:pt x="0" y="427736"/>
                  </a:cubicBezTo>
                  <a:close/>
                </a:path>
              </a:pathLst>
            </a:custGeom>
            <a:solidFill>
              <a:srgbClr val="028090"/>
            </a:solidFill>
            <a:ln w="38100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2633472" y="4800600"/>
            <a:ext cx="2194560" cy="480060"/>
            <a:chOff x="0" y="0"/>
            <a:chExt cx="2926080" cy="64008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926080" cy="640080"/>
            </a:xfrm>
            <a:custGeom>
              <a:avLst/>
              <a:gdLst/>
              <a:ahLst/>
              <a:cxnLst/>
              <a:rect r="r" b="b" t="t" l="l"/>
              <a:pathLst>
                <a:path h="640080" w="2926080">
                  <a:moveTo>
                    <a:pt x="0" y="0"/>
                  </a:moveTo>
                  <a:lnTo>
                    <a:pt x="2926080" y="0"/>
                  </a:lnTo>
                  <a:lnTo>
                    <a:pt x="292608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9074" r="0" b="-39074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19050"/>
              <a:ext cx="2926080" cy="6591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0B2B2E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Sprint 1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2359152" y="5280660"/>
            <a:ext cx="2743200" cy="1165860"/>
            <a:chOff x="0" y="0"/>
            <a:chExt cx="3657600" cy="155448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3657600" cy="1554480"/>
            </a:xfrm>
            <a:custGeom>
              <a:avLst/>
              <a:gdLst/>
              <a:ahLst/>
              <a:cxnLst/>
              <a:rect r="r" b="b" t="t" l="l"/>
              <a:pathLst>
                <a:path h="155448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529" t="0" r="-4529" b="0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3657600" cy="15925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95"/>
                </a:lnSpc>
              </a:pPr>
              <a:r>
                <a:rPr lang="en-US" sz="1425">
                  <a:solidFill>
                    <a:srgbClr val="5B6E7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Fundamentos y autenticación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2633472" y="4361688"/>
            <a:ext cx="2194560" cy="411480"/>
            <a:chOff x="0" y="0"/>
            <a:chExt cx="2926080" cy="54864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926080" cy="548640"/>
            </a:xfrm>
            <a:custGeom>
              <a:avLst/>
              <a:gdLst/>
              <a:ahLst/>
              <a:cxnLst/>
              <a:rect r="r" b="b" t="t" l="l"/>
              <a:pathLst>
                <a:path h="548640" w="2926080">
                  <a:moveTo>
                    <a:pt x="0" y="0"/>
                  </a:moveTo>
                  <a:lnTo>
                    <a:pt x="2926080" y="0"/>
                  </a:lnTo>
                  <a:lnTo>
                    <a:pt x="29260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3920" r="0" b="-53920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292608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09"/>
                </a:lnSpc>
              </a:pPr>
              <a:r>
                <a:rPr lang="en-US" b="true" sz="1425" i="true">
                  <a:solidFill>
                    <a:srgbClr val="028090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Semanas 5-6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5727954" y="3862578"/>
            <a:ext cx="641604" cy="641604"/>
            <a:chOff x="0" y="0"/>
            <a:chExt cx="855472" cy="855472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855472" cy="855472"/>
            </a:xfrm>
            <a:custGeom>
              <a:avLst/>
              <a:gdLst/>
              <a:ahLst/>
              <a:cxnLst/>
              <a:rect r="r" b="b" t="t" l="l"/>
              <a:pathLst>
                <a:path h="855472" w="855472">
                  <a:moveTo>
                    <a:pt x="0" y="427736"/>
                  </a:moveTo>
                  <a:cubicBezTo>
                    <a:pt x="0" y="191516"/>
                    <a:pt x="191516" y="0"/>
                    <a:pt x="427736" y="0"/>
                  </a:cubicBezTo>
                  <a:cubicBezTo>
                    <a:pt x="663956" y="0"/>
                    <a:pt x="855472" y="191516"/>
                    <a:pt x="855472" y="427736"/>
                  </a:cubicBezTo>
                  <a:cubicBezTo>
                    <a:pt x="855472" y="663956"/>
                    <a:pt x="663956" y="855472"/>
                    <a:pt x="427736" y="855472"/>
                  </a:cubicBezTo>
                  <a:cubicBezTo>
                    <a:pt x="191516" y="855472"/>
                    <a:pt x="0" y="663956"/>
                    <a:pt x="0" y="427736"/>
                  </a:cubicBezTo>
                  <a:close/>
                </a:path>
              </a:pathLst>
            </a:custGeom>
            <a:solidFill>
              <a:srgbClr val="028090"/>
            </a:solidFill>
            <a:ln w="38100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33" id="33"/>
          <p:cNvGrpSpPr/>
          <p:nvPr/>
        </p:nvGrpSpPr>
        <p:grpSpPr>
          <a:xfrm rot="0">
            <a:off x="4992624" y="2057400"/>
            <a:ext cx="2194560" cy="480060"/>
            <a:chOff x="0" y="0"/>
            <a:chExt cx="2926080" cy="64008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2926080" cy="640080"/>
            </a:xfrm>
            <a:custGeom>
              <a:avLst/>
              <a:gdLst/>
              <a:ahLst/>
              <a:cxnLst/>
              <a:rect r="r" b="b" t="t" l="l"/>
              <a:pathLst>
                <a:path h="640080" w="2926080">
                  <a:moveTo>
                    <a:pt x="0" y="0"/>
                  </a:moveTo>
                  <a:lnTo>
                    <a:pt x="2926080" y="0"/>
                  </a:lnTo>
                  <a:lnTo>
                    <a:pt x="292608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9074" r="0" b="-39074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19050"/>
              <a:ext cx="2926080" cy="6591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0B2B2E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Sprint 2</a:t>
              </a: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4718304" y="2537460"/>
            <a:ext cx="2743200" cy="1165860"/>
            <a:chOff x="0" y="0"/>
            <a:chExt cx="3657600" cy="155448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3657600" cy="1554480"/>
            </a:xfrm>
            <a:custGeom>
              <a:avLst/>
              <a:gdLst/>
              <a:ahLst/>
              <a:cxnLst/>
              <a:rect r="r" b="b" t="t" l="l"/>
              <a:pathLst>
                <a:path h="155448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529" t="0" r="-4529" b="0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3657600" cy="15925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95"/>
                </a:lnSpc>
              </a:pPr>
              <a:r>
                <a:rPr lang="en-US" sz="1425">
                  <a:solidFill>
                    <a:srgbClr val="5B6E7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Directorio de profesionales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4992624" y="4663440"/>
            <a:ext cx="2194560" cy="411480"/>
            <a:chOff x="0" y="0"/>
            <a:chExt cx="2926080" cy="54864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2926080" cy="548640"/>
            </a:xfrm>
            <a:custGeom>
              <a:avLst/>
              <a:gdLst/>
              <a:ahLst/>
              <a:cxnLst/>
              <a:rect r="r" b="b" t="t" l="l"/>
              <a:pathLst>
                <a:path h="548640" w="2926080">
                  <a:moveTo>
                    <a:pt x="0" y="0"/>
                  </a:moveTo>
                  <a:lnTo>
                    <a:pt x="2926080" y="0"/>
                  </a:lnTo>
                  <a:lnTo>
                    <a:pt x="29260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3920" r="0" b="-53920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-38100"/>
              <a:ext cx="292608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09"/>
                </a:lnSpc>
              </a:pPr>
              <a:r>
                <a:rPr lang="en-US" b="true" sz="1425" i="true">
                  <a:solidFill>
                    <a:srgbClr val="028090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Semanas 7-8</a:t>
              </a: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8087106" y="3862578"/>
            <a:ext cx="641604" cy="641604"/>
            <a:chOff x="0" y="0"/>
            <a:chExt cx="855472" cy="855472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855472" cy="855472"/>
            </a:xfrm>
            <a:custGeom>
              <a:avLst/>
              <a:gdLst/>
              <a:ahLst/>
              <a:cxnLst/>
              <a:rect r="r" b="b" t="t" l="l"/>
              <a:pathLst>
                <a:path h="855472" w="855472">
                  <a:moveTo>
                    <a:pt x="0" y="427736"/>
                  </a:moveTo>
                  <a:cubicBezTo>
                    <a:pt x="0" y="191516"/>
                    <a:pt x="191516" y="0"/>
                    <a:pt x="427736" y="0"/>
                  </a:cubicBezTo>
                  <a:cubicBezTo>
                    <a:pt x="663956" y="0"/>
                    <a:pt x="855472" y="191516"/>
                    <a:pt x="855472" y="427736"/>
                  </a:cubicBezTo>
                  <a:cubicBezTo>
                    <a:pt x="855472" y="663956"/>
                    <a:pt x="663956" y="855472"/>
                    <a:pt x="427736" y="855472"/>
                  </a:cubicBezTo>
                  <a:cubicBezTo>
                    <a:pt x="191516" y="855472"/>
                    <a:pt x="0" y="663956"/>
                    <a:pt x="0" y="427736"/>
                  </a:cubicBezTo>
                  <a:close/>
                </a:path>
              </a:pathLst>
            </a:custGeom>
            <a:solidFill>
              <a:srgbClr val="02C39A"/>
            </a:solidFill>
            <a:ln w="38100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44" id="44"/>
          <p:cNvGrpSpPr/>
          <p:nvPr/>
        </p:nvGrpSpPr>
        <p:grpSpPr>
          <a:xfrm rot="0">
            <a:off x="7351776" y="4800600"/>
            <a:ext cx="2194560" cy="480060"/>
            <a:chOff x="0" y="0"/>
            <a:chExt cx="2926080" cy="64008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2926080" cy="640080"/>
            </a:xfrm>
            <a:custGeom>
              <a:avLst/>
              <a:gdLst/>
              <a:ahLst/>
              <a:cxnLst/>
              <a:rect r="r" b="b" t="t" l="l"/>
              <a:pathLst>
                <a:path h="640080" w="2926080">
                  <a:moveTo>
                    <a:pt x="0" y="0"/>
                  </a:moveTo>
                  <a:lnTo>
                    <a:pt x="2926080" y="0"/>
                  </a:lnTo>
                  <a:lnTo>
                    <a:pt x="292608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9074" r="0" b="-39074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19050"/>
              <a:ext cx="2926080" cy="6591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0B2B2E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Sprint 3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7077456" y="5280660"/>
            <a:ext cx="2743200" cy="1165860"/>
            <a:chOff x="0" y="0"/>
            <a:chExt cx="3657600" cy="155448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3657600" cy="1554480"/>
            </a:xfrm>
            <a:custGeom>
              <a:avLst/>
              <a:gdLst/>
              <a:ahLst/>
              <a:cxnLst/>
              <a:rect r="r" b="b" t="t" l="l"/>
              <a:pathLst>
                <a:path h="155448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529" t="0" r="-4529" b="0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-38100"/>
              <a:ext cx="3657600" cy="15925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95"/>
                </a:lnSpc>
              </a:pPr>
              <a:r>
                <a:rPr lang="en-US" sz="1425">
                  <a:solidFill>
                    <a:srgbClr val="5B6E7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Búsqueda geolocalizada · Hito control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7351776" y="4361688"/>
            <a:ext cx="2194560" cy="411480"/>
            <a:chOff x="0" y="0"/>
            <a:chExt cx="2926080" cy="54864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2926080" cy="548640"/>
            </a:xfrm>
            <a:custGeom>
              <a:avLst/>
              <a:gdLst/>
              <a:ahLst/>
              <a:cxnLst/>
              <a:rect r="r" b="b" t="t" l="l"/>
              <a:pathLst>
                <a:path h="548640" w="2926080">
                  <a:moveTo>
                    <a:pt x="0" y="0"/>
                  </a:moveTo>
                  <a:lnTo>
                    <a:pt x="2926080" y="0"/>
                  </a:lnTo>
                  <a:lnTo>
                    <a:pt x="29260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3920" r="0" b="-53920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38100"/>
              <a:ext cx="292608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09"/>
                </a:lnSpc>
              </a:pPr>
              <a:r>
                <a:rPr lang="en-US" b="true" sz="1425" i="true">
                  <a:solidFill>
                    <a:srgbClr val="028090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Semanas 9-10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10446258" y="3862578"/>
            <a:ext cx="641604" cy="641604"/>
            <a:chOff x="0" y="0"/>
            <a:chExt cx="855472" cy="855472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855472" cy="855472"/>
            </a:xfrm>
            <a:custGeom>
              <a:avLst/>
              <a:gdLst/>
              <a:ahLst/>
              <a:cxnLst/>
              <a:rect r="r" b="b" t="t" l="l"/>
              <a:pathLst>
                <a:path h="855472" w="855472">
                  <a:moveTo>
                    <a:pt x="0" y="427736"/>
                  </a:moveTo>
                  <a:cubicBezTo>
                    <a:pt x="0" y="191516"/>
                    <a:pt x="191516" y="0"/>
                    <a:pt x="427736" y="0"/>
                  </a:cubicBezTo>
                  <a:cubicBezTo>
                    <a:pt x="663956" y="0"/>
                    <a:pt x="855472" y="191516"/>
                    <a:pt x="855472" y="427736"/>
                  </a:cubicBezTo>
                  <a:cubicBezTo>
                    <a:pt x="855472" y="663956"/>
                    <a:pt x="663956" y="855472"/>
                    <a:pt x="427736" y="855472"/>
                  </a:cubicBezTo>
                  <a:cubicBezTo>
                    <a:pt x="191516" y="855472"/>
                    <a:pt x="0" y="663956"/>
                    <a:pt x="0" y="427736"/>
                  </a:cubicBezTo>
                  <a:close/>
                </a:path>
              </a:pathLst>
            </a:custGeom>
            <a:solidFill>
              <a:srgbClr val="028090"/>
            </a:solidFill>
            <a:ln w="38100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55" id="55"/>
          <p:cNvGrpSpPr/>
          <p:nvPr/>
        </p:nvGrpSpPr>
        <p:grpSpPr>
          <a:xfrm rot="0">
            <a:off x="9710928" y="2057400"/>
            <a:ext cx="2194560" cy="480060"/>
            <a:chOff x="0" y="0"/>
            <a:chExt cx="2926080" cy="64008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2926080" cy="640080"/>
            </a:xfrm>
            <a:custGeom>
              <a:avLst/>
              <a:gdLst/>
              <a:ahLst/>
              <a:cxnLst/>
              <a:rect r="r" b="b" t="t" l="l"/>
              <a:pathLst>
                <a:path h="640080" w="2926080">
                  <a:moveTo>
                    <a:pt x="0" y="0"/>
                  </a:moveTo>
                  <a:lnTo>
                    <a:pt x="2926080" y="0"/>
                  </a:lnTo>
                  <a:lnTo>
                    <a:pt x="292608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9074" r="0" b="-39074"/>
              </a:stretch>
            </a:blipFill>
          </p:spPr>
        </p:sp>
        <p:sp>
          <p:nvSpPr>
            <p:cNvPr name="TextBox 57" id="57"/>
            <p:cNvSpPr txBox="true"/>
            <p:nvPr/>
          </p:nvSpPr>
          <p:spPr>
            <a:xfrm>
              <a:off x="0" y="-19050"/>
              <a:ext cx="2926080" cy="6591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0B2B2E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Sprint 4</a:t>
              </a:r>
            </a:p>
          </p:txBody>
        </p:sp>
      </p:grpSp>
      <p:grpSp>
        <p:nvGrpSpPr>
          <p:cNvPr name="Group 58" id="58"/>
          <p:cNvGrpSpPr/>
          <p:nvPr/>
        </p:nvGrpSpPr>
        <p:grpSpPr>
          <a:xfrm rot="0">
            <a:off x="9436608" y="2537460"/>
            <a:ext cx="2743200" cy="1165860"/>
            <a:chOff x="0" y="0"/>
            <a:chExt cx="3657600" cy="155448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3657600" cy="1554480"/>
            </a:xfrm>
            <a:custGeom>
              <a:avLst/>
              <a:gdLst/>
              <a:ahLst/>
              <a:cxnLst/>
              <a:rect r="r" b="b" t="t" l="l"/>
              <a:pathLst>
                <a:path h="155448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529" t="0" r="-4529" b="0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-38100"/>
              <a:ext cx="3657600" cy="15925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95"/>
                </a:lnSpc>
              </a:pPr>
              <a:r>
                <a:rPr lang="en-US" sz="1425">
                  <a:solidFill>
                    <a:srgbClr val="5B6E7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Asistente de IA</a:t>
              </a: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9710928" y="4663440"/>
            <a:ext cx="2194560" cy="411480"/>
            <a:chOff x="0" y="0"/>
            <a:chExt cx="2926080" cy="548640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2926080" cy="548640"/>
            </a:xfrm>
            <a:custGeom>
              <a:avLst/>
              <a:gdLst/>
              <a:ahLst/>
              <a:cxnLst/>
              <a:rect r="r" b="b" t="t" l="l"/>
              <a:pathLst>
                <a:path h="548640" w="2926080">
                  <a:moveTo>
                    <a:pt x="0" y="0"/>
                  </a:moveTo>
                  <a:lnTo>
                    <a:pt x="2926080" y="0"/>
                  </a:lnTo>
                  <a:lnTo>
                    <a:pt x="29260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3920" r="0" b="-53920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-38100"/>
              <a:ext cx="292608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09"/>
                </a:lnSpc>
              </a:pPr>
              <a:r>
                <a:rPr lang="en-US" b="true" sz="1425" i="true">
                  <a:solidFill>
                    <a:srgbClr val="028090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Semanas 11-12</a:t>
              </a:r>
            </a:p>
          </p:txBody>
        </p:sp>
      </p:grpSp>
      <p:grpSp>
        <p:nvGrpSpPr>
          <p:cNvPr name="Group 64" id="64"/>
          <p:cNvGrpSpPr/>
          <p:nvPr/>
        </p:nvGrpSpPr>
        <p:grpSpPr>
          <a:xfrm rot="0">
            <a:off x="12805410" y="3862578"/>
            <a:ext cx="641604" cy="641604"/>
            <a:chOff x="0" y="0"/>
            <a:chExt cx="855472" cy="855472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855472" cy="855472"/>
            </a:xfrm>
            <a:custGeom>
              <a:avLst/>
              <a:gdLst/>
              <a:ahLst/>
              <a:cxnLst/>
              <a:rect r="r" b="b" t="t" l="l"/>
              <a:pathLst>
                <a:path h="855472" w="855472">
                  <a:moveTo>
                    <a:pt x="0" y="427736"/>
                  </a:moveTo>
                  <a:cubicBezTo>
                    <a:pt x="0" y="191516"/>
                    <a:pt x="191516" y="0"/>
                    <a:pt x="427736" y="0"/>
                  </a:cubicBezTo>
                  <a:cubicBezTo>
                    <a:pt x="663956" y="0"/>
                    <a:pt x="855472" y="191516"/>
                    <a:pt x="855472" y="427736"/>
                  </a:cubicBezTo>
                  <a:cubicBezTo>
                    <a:pt x="855472" y="663956"/>
                    <a:pt x="663956" y="855472"/>
                    <a:pt x="427736" y="855472"/>
                  </a:cubicBezTo>
                  <a:cubicBezTo>
                    <a:pt x="191516" y="855472"/>
                    <a:pt x="0" y="663956"/>
                    <a:pt x="0" y="427736"/>
                  </a:cubicBezTo>
                  <a:close/>
                </a:path>
              </a:pathLst>
            </a:custGeom>
            <a:solidFill>
              <a:srgbClr val="02C39A"/>
            </a:solidFill>
            <a:ln w="38100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66" id="66"/>
          <p:cNvGrpSpPr/>
          <p:nvPr/>
        </p:nvGrpSpPr>
        <p:grpSpPr>
          <a:xfrm rot="0">
            <a:off x="12070080" y="4800600"/>
            <a:ext cx="2194560" cy="480060"/>
            <a:chOff x="0" y="0"/>
            <a:chExt cx="2926080" cy="640080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2926080" cy="640080"/>
            </a:xfrm>
            <a:custGeom>
              <a:avLst/>
              <a:gdLst/>
              <a:ahLst/>
              <a:cxnLst/>
              <a:rect r="r" b="b" t="t" l="l"/>
              <a:pathLst>
                <a:path h="640080" w="2926080">
                  <a:moveTo>
                    <a:pt x="0" y="0"/>
                  </a:moveTo>
                  <a:lnTo>
                    <a:pt x="2926080" y="0"/>
                  </a:lnTo>
                  <a:lnTo>
                    <a:pt x="292608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9074" r="0" b="-39074"/>
              </a:stretch>
            </a:blipFill>
          </p:spPr>
        </p:sp>
        <p:sp>
          <p:nvSpPr>
            <p:cNvPr name="TextBox 68" id="68"/>
            <p:cNvSpPr txBox="true"/>
            <p:nvPr/>
          </p:nvSpPr>
          <p:spPr>
            <a:xfrm>
              <a:off x="0" y="-19050"/>
              <a:ext cx="2926080" cy="6591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0B2B2E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Sprint 5</a:t>
              </a:r>
            </a:p>
          </p:txBody>
        </p:sp>
      </p:grpSp>
      <p:grpSp>
        <p:nvGrpSpPr>
          <p:cNvPr name="Group 69" id="69"/>
          <p:cNvGrpSpPr/>
          <p:nvPr/>
        </p:nvGrpSpPr>
        <p:grpSpPr>
          <a:xfrm rot="0">
            <a:off x="11795760" y="5280660"/>
            <a:ext cx="2743200" cy="1165860"/>
            <a:chOff x="0" y="0"/>
            <a:chExt cx="3657600" cy="1554480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3657600" cy="1554480"/>
            </a:xfrm>
            <a:custGeom>
              <a:avLst/>
              <a:gdLst/>
              <a:ahLst/>
              <a:cxnLst/>
              <a:rect r="r" b="b" t="t" l="l"/>
              <a:pathLst>
                <a:path h="155448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529" t="0" r="-4529" b="0"/>
              </a:stretch>
            </a:blipFill>
          </p:spPr>
        </p:sp>
        <p:sp>
          <p:nvSpPr>
            <p:cNvPr name="TextBox 71" id="71"/>
            <p:cNvSpPr txBox="true"/>
            <p:nvPr/>
          </p:nvSpPr>
          <p:spPr>
            <a:xfrm>
              <a:off x="0" y="-38100"/>
              <a:ext cx="3657600" cy="15925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95"/>
                </a:lnSpc>
              </a:pPr>
              <a:r>
                <a:rPr lang="en-US" sz="1425">
                  <a:solidFill>
                    <a:srgbClr val="5B6E7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Gestor alimentación y despliegue · Hito cierre</a:t>
              </a:r>
            </a:p>
          </p:txBody>
        </p:sp>
      </p:grpSp>
      <p:grpSp>
        <p:nvGrpSpPr>
          <p:cNvPr name="Group 72" id="72"/>
          <p:cNvGrpSpPr/>
          <p:nvPr/>
        </p:nvGrpSpPr>
        <p:grpSpPr>
          <a:xfrm rot="0">
            <a:off x="12070080" y="4361688"/>
            <a:ext cx="2194560" cy="411480"/>
            <a:chOff x="0" y="0"/>
            <a:chExt cx="2926080" cy="548640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2926080" cy="548640"/>
            </a:xfrm>
            <a:custGeom>
              <a:avLst/>
              <a:gdLst/>
              <a:ahLst/>
              <a:cxnLst/>
              <a:rect r="r" b="b" t="t" l="l"/>
              <a:pathLst>
                <a:path h="548640" w="2926080">
                  <a:moveTo>
                    <a:pt x="0" y="0"/>
                  </a:moveTo>
                  <a:lnTo>
                    <a:pt x="2926080" y="0"/>
                  </a:lnTo>
                  <a:lnTo>
                    <a:pt x="29260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3920" r="0" b="-53920"/>
              </a:stretch>
            </a:blipFill>
          </p:spPr>
        </p:sp>
        <p:sp>
          <p:nvSpPr>
            <p:cNvPr name="TextBox 74" id="74"/>
            <p:cNvSpPr txBox="true"/>
            <p:nvPr/>
          </p:nvSpPr>
          <p:spPr>
            <a:xfrm>
              <a:off x="0" y="-38100"/>
              <a:ext cx="292608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09"/>
                </a:lnSpc>
              </a:pPr>
              <a:r>
                <a:rPr lang="en-US" b="true" sz="1425" i="true">
                  <a:solidFill>
                    <a:srgbClr val="028090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Semanas 13-15</a:t>
              </a:r>
            </a:p>
          </p:txBody>
        </p:sp>
      </p:grpSp>
      <p:grpSp>
        <p:nvGrpSpPr>
          <p:cNvPr name="Group 75" id="75"/>
          <p:cNvGrpSpPr/>
          <p:nvPr/>
        </p:nvGrpSpPr>
        <p:grpSpPr>
          <a:xfrm rot="0">
            <a:off x="15164562" y="3862578"/>
            <a:ext cx="641604" cy="641604"/>
            <a:chOff x="0" y="0"/>
            <a:chExt cx="855472" cy="855472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855472" cy="855472"/>
            </a:xfrm>
            <a:custGeom>
              <a:avLst/>
              <a:gdLst/>
              <a:ahLst/>
              <a:cxnLst/>
              <a:rect r="r" b="b" t="t" l="l"/>
              <a:pathLst>
                <a:path h="855472" w="855472">
                  <a:moveTo>
                    <a:pt x="0" y="427736"/>
                  </a:moveTo>
                  <a:cubicBezTo>
                    <a:pt x="0" y="191516"/>
                    <a:pt x="191516" y="0"/>
                    <a:pt x="427736" y="0"/>
                  </a:cubicBezTo>
                  <a:cubicBezTo>
                    <a:pt x="663956" y="0"/>
                    <a:pt x="855472" y="191516"/>
                    <a:pt x="855472" y="427736"/>
                  </a:cubicBezTo>
                  <a:cubicBezTo>
                    <a:pt x="855472" y="663956"/>
                    <a:pt x="663956" y="855472"/>
                    <a:pt x="427736" y="855472"/>
                  </a:cubicBezTo>
                  <a:cubicBezTo>
                    <a:pt x="191516" y="855472"/>
                    <a:pt x="0" y="663956"/>
                    <a:pt x="0" y="427736"/>
                  </a:cubicBezTo>
                  <a:close/>
                </a:path>
              </a:pathLst>
            </a:custGeom>
            <a:solidFill>
              <a:srgbClr val="028090"/>
            </a:solidFill>
            <a:ln w="38100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77" id="77"/>
          <p:cNvGrpSpPr/>
          <p:nvPr/>
        </p:nvGrpSpPr>
        <p:grpSpPr>
          <a:xfrm rot="0">
            <a:off x="14429232" y="2057400"/>
            <a:ext cx="2194560" cy="480060"/>
            <a:chOff x="0" y="0"/>
            <a:chExt cx="2926080" cy="640080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2926080" cy="640080"/>
            </a:xfrm>
            <a:custGeom>
              <a:avLst/>
              <a:gdLst/>
              <a:ahLst/>
              <a:cxnLst/>
              <a:rect r="r" b="b" t="t" l="l"/>
              <a:pathLst>
                <a:path h="640080" w="2926080">
                  <a:moveTo>
                    <a:pt x="0" y="0"/>
                  </a:moveTo>
                  <a:lnTo>
                    <a:pt x="2926080" y="0"/>
                  </a:lnTo>
                  <a:lnTo>
                    <a:pt x="292608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9074" r="0" b="-39074"/>
              </a:stretch>
            </a:blipFill>
          </p:spPr>
        </p:sp>
        <p:sp>
          <p:nvSpPr>
            <p:cNvPr name="TextBox 79" id="79"/>
            <p:cNvSpPr txBox="true"/>
            <p:nvPr/>
          </p:nvSpPr>
          <p:spPr>
            <a:xfrm>
              <a:off x="0" y="-19050"/>
              <a:ext cx="2926080" cy="6591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0B2B2E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Fase 3</a:t>
              </a:r>
            </a:p>
          </p:txBody>
        </p:sp>
      </p:grpSp>
      <p:grpSp>
        <p:nvGrpSpPr>
          <p:cNvPr name="Group 80" id="80"/>
          <p:cNvGrpSpPr/>
          <p:nvPr/>
        </p:nvGrpSpPr>
        <p:grpSpPr>
          <a:xfrm rot="0">
            <a:off x="14154912" y="2537460"/>
            <a:ext cx="2743200" cy="1165860"/>
            <a:chOff x="0" y="0"/>
            <a:chExt cx="3657600" cy="1554480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3657600" cy="1554480"/>
            </a:xfrm>
            <a:custGeom>
              <a:avLst/>
              <a:gdLst/>
              <a:ahLst/>
              <a:cxnLst/>
              <a:rect r="r" b="b" t="t" l="l"/>
              <a:pathLst>
                <a:path h="155448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529" t="0" r="-4529" b="0"/>
              </a:stretch>
            </a:blipFill>
          </p:spPr>
        </p:sp>
        <p:sp>
          <p:nvSpPr>
            <p:cNvPr name="TextBox 82" id="82"/>
            <p:cNvSpPr txBox="true"/>
            <p:nvPr/>
          </p:nvSpPr>
          <p:spPr>
            <a:xfrm>
              <a:off x="0" y="-38100"/>
              <a:ext cx="3657600" cy="15925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95"/>
                </a:lnSpc>
              </a:pPr>
              <a:r>
                <a:rPr lang="en-US" sz="1425">
                  <a:solidFill>
                    <a:srgbClr val="5B6E7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Presentación y defensa</a:t>
              </a:r>
            </a:p>
          </p:txBody>
        </p:sp>
      </p:grpSp>
      <p:grpSp>
        <p:nvGrpSpPr>
          <p:cNvPr name="Group 83" id="83"/>
          <p:cNvGrpSpPr/>
          <p:nvPr/>
        </p:nvGrpSpPr>
        <p:grpSpPr>
          <a:xfrm rot="0">
            <a:off x="14429232" y="4663440"/>
            <a:ext cx="2194560" cy="411480"/>
            <a:chOff x="0" y="0"/>
            <a:chExt cx="2926080" cy="548640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2926080" cy="548640"/>
            </a:xfrm>
            <a:custGeom>
              <a:avLst/>
              <a:gdLst/>
              <a:ahLst/>
              <a:cxnLst/>
              <a:rect r="r" b="b" t="t" l="l"/>
              <a:pathLst>
                <a:path h="548640" w="2926080">
                  <a:moveTo>
                    <a:pt x="0" y="0"/>
                  </a:moveTo>
                  <a:lnTo>
                    <a:pt x="2926080" y="0"/>
                  </a:lnTo>
                  <a:lnTo>
                    <a:pt x="29260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3920" r="0" b="-53920"/>
              </a:stretch>
            </a:blipFill>
          </p:spPr>
        </p:sp>
        <p:sp>
          <p:nvSpPr>
            <p:cNvPr name="TextBox 85" id="85"/>
            <p:cNvSpPr txBox="true"/>
            <p:nvPr/>
          </p:nvSpPr>
          <p:spPr>
            <a:xfrm>
              <a:off x="0" y="-38100"/>
              <a:ext cx="292608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09"/>
                </a:lnSpc>
              </a:pPr>
              <a:r>
                <a:rPr lang="en-US" b="true" sz="1425" i="true">
                  <a:solidFill>
                    <a:srgbClr val="028090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Semanas 16-18</a:t>
              </a:r>
            </a:p>
          </p:txBody>
        </p:sp>
      </p:grpSp>
      <p:grpSp>
        <p:nvGrpSpPr>
          <p:cNvPr name="Group 86" id="86"/>
          <p:cNvGrpSpPr/>
          <p:nvPr/>
        </p:nvGrpSpPr>
        <p:grpSpPr>
          <a:xfrm rot="0">
            <a:off x="822960" y="8983980"/>
            <a:ext cx="16596360" cy="685800"/>
            <a:chOff x="0" y="0"/>
            <a:chExt cx="22128480" cy="914400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22128480" cy="914400"/>
            </a:xfrm>
            <a:custGeom>
              <a:avLst/>
              <a:gdLst/>
              <a:ahLst/>
              <a:cxnLst/>
              <a:rect r="r" b="b" t="t" l="l"/>
              <a:pathLst>
                <a:path h="91440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21537" r="0" b="-421537"/>
              </a:stretch>
            </a:blipFill>
          </p:spPr>
        </p:sp>
        <p:sp>
          <p:nvSpPr>
            <p:cNvPr name="TextBox 88" id="88"/>
            <p:cNvSpPr txBox="true"/>
            <p:nvPr/>
          </p:nvSpPr>
          <p:spPr>
            <a:xfrm>
              <a:off x="0" y="-38100"/>
              <a:ext cx="22128480" cy="9525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i="true">
                  <a:solidFill>
                    <a:srgbClr val="5B6E70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Sprints de 2 semanas durante la Fase 2 (semanas 5–15) · Metodología Scrum con Sprint Planning, Daily, Sprint Review y Retrospectiva en cada sprint.</a:t>
              </a:r>
            </a:p>
          </p:txBody>
        </p:sp>
      </p:grpSp>
      <p:grpSp>
        <p:nvGrpSpPr>
          <p:cNvPr name="Group 89" id="89"/>
          <p:cNvGrpSpPr/>
          <p:nvPr/>
        </p:nvGrpSpPr>
        <p:grpSpPr>
          <a:xfrm rot="0">
            <a:off x="685800" y="9710928"/>
            <a:ext cx="10972800" cy="411480"/>
            <a:chOff x="0" y="0"/>
            <a:chExt cx="14630400" cy="548640"/>
          </a:xfrm>
        </p:grpSpPr>
        <p:sp>
          <p:nvSpPr>
            <p:cNvPr name="Freeform 90" id="90"/>
            <p:cNvSpPr/>
            <p:nvPr/>
          </p:nvSpPr>
          <p:spPr>
            <a:xfrm flipH="false" flipV="false" rot="0">
              <a:off x="0" y="0"/>
              <a:ext cx="14630400" cy="548640"/>
            </a:xfrm>
            <a:custGeom>
              <a:avLst/>
              <a:gdLst/>
              <a:ahLst/>
              <a:cxnLst/>
              <a:rect r="r" b="b" t="t" l="l"/>
              <a:pathLst>
                <a:path h="54864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9601" r="0" b="-469601"/>
              </a:stretch>
            </a:blipFill>
          </p:spPr>
        </p:sp>
        <p:sp>
          <p:nvSpPr>
            <p:cNvPr name="TextBox 91" id="91"/>
            <p:cNvSpPr txBox="true"/>
            <p:nvPr/>
          </p:nvSpPr>
          <p:spPr>
            <a:xfrm>
              <a:off x="0" y="-38100"/>
              <a:ext cx="14630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5B6E7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FitSearch — Definición del Proyecto APT (Fase 1)</a:t>
              </a:r>
            </a:p>
          </p:txBody>
        </p:sp>
      </p:grpSp>
      <p:grpSp>
        <p:nvGrpSpPr>
          <p:cNvPr name="Group 92" id="92"/>
          <p:cNvGrpSpPr/>
          <p:nvPr/>
        </p:nvGrpSpPr>
        <p:grpSpPr>
          <a:xfrm rot="0">
            <a:off x="14854428" y="9710928"/>
            <a:ext cx="2743200" cy="411480"/>
            <a:chOff x="0" y="0"/>
            <a:chExt cx="3657600" cy="548640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3657600" cy="548640"/>
            </a:xfrm>
            <a:custGeom>
              <a:avLst/>
              <a:gdLst/>
              <a:ahLst/>
              <a:cxnLst/>
              <a:rect r="r" b="b" t="t" l="l"/>
              <a:pathLst>
                <a:path h="54864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9900" r="0" b="-79900"/>
              </a:stretch>
            </a:blipFill>
          </p:spPr>
        </p:sp>
        <p:sp>
          <p:nvSpPr>
            <p:cNvPr name="TextBox 94" id="94"/>
            <p:cNvSpPr txBox="true"/>
            <p:nvPr/>
          </p:nvSpPr>
          <p:spPr>
            <a:xfrm>
              <a:off x="0" y="-38100"/>
              <a:ext cx="36576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5B6E7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06</a:t>
              </a:r>
            </a:p>
          </p:txBody>
        </p:sp>
      </p:grpSp>
      <p:sp>
        <p:nvSpPr>
          <p:cNvPr name="Freeform 95" id="95"/>
          <p:cNvSpPr/>
          <p:nvPr/>
        </p:nvSpPr>
        <p:spPr>
          <a:xfrm flipH="false" flipV="false" rot="0">
            <a:off x="15560095" y="20760"/>
            <a:ext cx="2727905" cy="668427"/>
          </a:xfrm>
          <a:custGeom>
            <a:avLst/>
            <a:gdLst/>
            <a:ahLst/>
            <a:cxnLst/>
            <a:rect r="r" b="b" t="t" l="l"/>
            <a:pathLst>
              <a:path h="668427" w="2727905">
                <a:moveTo>
                  <a:pt x="0" y="0"/>
                </a:moveTo>
                <a:lnTo>
                  <a:pt x="2727905" y="0"/>
                </a:lnTo>
                <a:lnTo>
                  <a:pt x="2727905" y="668427"/>
                </a:lnTo>
                <a:lnTo>
                  <a:pt x="0" y="66842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96" id="96"/>
          <p:cNvSpPr/>
          <p:nvPr/>
        </p:nvSpPr>
        <p:spPr>
          <a:xfrm flipH="false" flipV="false" rot="0">
            <a:off x="8344186" y="0"/>
            <a:ext cx="1553908" cy="1551492"/>
          </a:xfrm>
          <a:custGeom>
            <a:avLst/>
            <a:gdLst/>
            <a:ahLst/>
            <a:cxnLst/>
            <a:rect r="r" b="b" t="t" l="l"/>
            <a:pathLst>
              <a:path h="1551492" w="1553908">
                <a:moveTo>
                  <a:pt x="0" y="0"/>
                </a:moveTo>
                <a:lnTo>
                  <a:pt x="1553908" y="0"/>
                </a:lnTo>
                <a:lnTo>
                  <a:pt x="1553908" y="1551492"/>
                </a:lnTo>
                <a:lnTo>
                  <a:pt x="0" y="155149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144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2194560" y="6309360"/>
            <a:ext cx="6858000" cy="6858000"/>
            <a:chOff x="0" y="0"/>
            <a:chExt cx="9144000" cy="9144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144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9144000">
                  <a:moveTo>
                    <a:pt x="0" y="4572000"/>
                  </a:moveTo>
                  <a:cubicBezTo>
                    <a:pt x="0" y="2046986"/>
                    <a:pt x="2046986" y="0"/>
                    <a:pt x="4572000" y="0"/>
                  </a:cubicBezTo>
                  <a:cubicBezTo>
                    <a:pt x="7097014" y="0"/>
                    <a:pt x="9144000" y="2046986"/>
                    <a:pt x="9144000" y="4572000"/>
                  </a:cubicBezTo>
                  <a:cubicBezTo>
                    <a:pt x="9144000" y="7097014"/>
                    <a:pt x="7097014" y="9144000"/>
                    <a:pt x="4572000" y="9144000"/>
                  </a:cubicBezTo>
                  <a:cubicBezTo>
                    <a:pt x="2046986" y="9144000"/>
                    <a:pt x="0" y="7097014"/>
                    <a:pt x="0" y="4572000"/>
                  </a:cubicBezTo>
                  <a:close/>
                </a:path>
              </a:pathLst>
            </a:custGeom>
            <a:solidFill>
              <a:srgbClr val="028090">
                <a:alpha val="20000"/>
              </a:srgbClr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60120" y="822960"/>
            <a:ext cx="10972800" cy="480060"/>
            <a:chOff x="0" y="0"/>
            <a:chExt cx="14630400" cy="64008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4630400" cy="640080"/>
            </a:xfrm>
            <a:custGeom>
              <a:avLst/>
              <a:gdLst/>
              <a:ahLst/>
              <a:cxnLst/>
              <a:rect r="r" b="b" t="t" l="l"/>
              <a:pathLst>
                <a:path h="64008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95372" r="0" b="-395372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4630400" cy="6877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 spc="299">
                  <a:solidFill>
                    <a:srgbClr val="02C39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6 · CONCLUSIÓN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891540" y="1303020"/>
            <a:ext cx="15087600" cy="1028700"/>
            <a:chOff x="0" y="0"/>
            <a:chExt cx="20116800" cy="13716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0116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20116800">
                  <a:moveTo>
                    <a:pt x="0" y="0"/>
                  </a:moveTo>
                  <a:lnTo>
                    <a:pt x="20116800" y="0"/>
                  </a:lnTo>
                  <a:lnTo>
                    <a:pt x="20116800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5780" r="0" b="-235780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20116800" cy="13811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759"/>
                </a:lnSpc>
              </a:pPr>
              <a:r>
                <a:rPr lang="en-US" sz="48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Cierre de la Fase 1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960120" y="2537460"/>
            <a:ext cx="16184880" cy="1303020"/>
            <a:chOff x="0" y="0"/>
            <a:chExt cx="21579840" cy="173736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1579839" cy="1737360"/>
            </a:xfrm>
            <a:custGeom>
              <a:avLst/>
              <a:gdLst/>
              <a:ahLst/>
              <a:cxnLst/>
              <a:rect r="r" b="b" t="t" l="l"/>
              <a:pathLst>
                <a:path h="1737360" w="21579839">
                  <a:moveTo>
                    <a:pt x="0" y="0"/>
                  </a:moveTo>
                  <a:lnTo>
                    <a:pt x="21579839" y="0"/>
                  </a:lnTo>
                  <a:lnTo>
                    <a:pt x="21579839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2024" r="0" b="-192024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114300"/>
              <a:ext cx="21579840" cy="18516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600"/>
                </a:lnSpc>
              </a:pPr>
              <a:r>
                <a:rPr lang="en-US" sz="2400" i="true">
                  <a:solidFill>
                    <a:srgbClr val="F4FAF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La idea original de FitSearch era demasiado amplia para un Capstone de 18 semanas: definir un Producto Mínimo Viable claro fue el resultado más importante de esta etapa.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960120" y="4251960"/>
            <a:ext cx="466344" cy="466344"/>
            <a:chOff x="0" y="0"/>
            <a:chExt cx="621792" cy="621792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21792" cy="621792"/>
            </a:xfrm>
            <a:custGeom>
              <a:avLst/>
              <a:gdLst/>
              <a:ahLst/>
              <a:cxnLst/>
              <a:rect r="r" b="b" t="t" l="l"/>
              <a:pathLst>
                <a:path h="621792" w="621792">
                  <a:moveTo>
                    <a:pt x="0" y="310896"/>
                  </a:moveTo>
                  <a:cubicBezTo>
                    <a:pt x="0" y="139192"/>
                    <a:pt x="139192" y="0"/>
                    <a:pt x="310896" y="0"/>
                  </a:cubicBezTo>
                  <a:cubicBezTo>
                    <a:pt x="482600" y="0"/>
                    <a:pt x="621792" y="139192"/>
                    <a:pt x="621792" y="310896"/>
                  </a:cubicBezTo>
                  <a:cubicBezTo>
                    <a:pt x="621792" y="482600"/>
                    <a:pt x="482600" y="621792"/>
                    <a:pt x="310896" y="621792"/>
                  </a:cubicBezTo>
                  <a:cubicBezTo>
                    <a:pt x="139192" y="621792"/>
                    <a:pt x="0" y="482600"/>
                    <a:pt x="0" y="310896"/>
                  </a:cubicBezTo>
                  <a:close/>
                </a:path>
              </a:pathLst>
            </a:custGeom>
            <a:solidFill>
              <a:srgbClr val="02C39A"/>
            </a:solid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960120" y="4251960"/>
            <a:ext cx="466344" cy="466344"/>
            <a:chOff x="0" y="0"/>
            <a:chExt cx="621792" cy="621792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621792" cy="621792"/>
            </a:xfrm>
            <a:custGeom>
              <a:avLst/>
              <a:gdLst/>
              <a:ahLst/>
              <a:cxnLst/>
              <a:rect r="r" b="b" t="t" l="l"/>
              <a:pathLst>
                <a:path h="621792" w="621792">
                  <a:moveTo>
                    <a:pt x="0" y="0"/>
                  </a:moveTo>
                  <a:lnTo>
                    <a:pt x="621792" y="0"/>
                  </a:lnTo>
                  <a:lnTo>
                    <a:pt x="621792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19050"/>
              <a:ext cx="621792" cy="6408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01444C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✓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645920" y="4197096"/>
            <a:ext cx="14813280" cy="685800"/>
            <a:chOff x="0" y="0"/>
            <a:chExt cx="19751040" cy="9144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9751039" cy="914400"/>
            </a:xfrm>
            <a:custGeom>
              <a:avLst/>
              <a:gdLst/>
              <a:ahLst/>
              <a:cxnLst/>
              <a:rect r="r" b="b" t="t" l="l"/>
              <a:pathLst>
                <a:path h="914400" w="19751039">
                  <a:moveTo>
                    <a:pt x="0" y="0"/>
                  </a:moveTo>
                  <a:lnTo>
                    <a:pt x="19751039" y="0"/>
                  </a:lnTo>
                  <a:lnTo>
                    <a:pt x="19751039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70876" r="0" b="-370876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47625"/>
              <a:ext cx="19751040" cy="9620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10"/>
                </a:lnSpc>
              </a:pPr>
              <a:r>
                <a:rPr lang="en-US" sz="2175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Problema validado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960120" y="5102352"/>
            <a:ext cx="466344" cy="466344"/>
            <a:chOff x="0" y="0"/>
            <a:chExt cx="621792" cy="621792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621792" cy="621792"/>
            </a:xfrm>
            <a:custGeom>
              <a:avLst/>
              <a:gdLst/>
              <a:ahLst/>
              <a:cxnLst/>
              <a:rect r="r" b="b" t="t" l="l"/>
              <a:pathLst>
                <a:path h="621792" w="621792">
                  <a:moveTo>
                    <a:pt x="0" y="310896"/>
                  </a:moveTo>
                  <a:cubicBezTo>
                    <a:pt x="0" y="139192"/>
                    <a:pt x="139192" y="0"/>
                    <a:pt x="310896" y="0"/>
                  </a:cubicBezTo>
                  <a:cubicBezTo>
                    <a:pt x="482600" y="0"/>
                    <a:pt x="621792" y="139192"/>
                    <a:pt x="621792" y="310896"/>
                  </a:cubicBezTo>
                  <a:cubicBezTo>
                    <a:pt x="621792" y="482600"/>
                    <a:pt x="482600" y="621792"/>
                    <a:pt x="310896" y="621792"/>
                  </a:cubicBezTo>
                  <a:cubicBezTo>
                    <a:pt x="139192" y="621792"/>
                    <a:pt x="0" y="482600"/>
                    <a:pt x="0" y="310896"/>
                  </a:cubicBezTo>
                  <a:close/>
                </a:path>
              </a:pathLst>
            </a:custGeom>
            <a:solidFill>
              <a:srgbClr val="02C39A"/>
            </a:solid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960120" y="5102352"/>
            <a:ext cx="466344" cy="466344"/>
            <a:chOff x="0" y="0"/>
            <a:chExt cx="621792" cy="621792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621792" cy="621792"/>
            </a:xfrm>
            <a:custGeom>
              <a:avLst/>
              <a:gdLst/>
              <a:ahLst/>
              <a:cxnLst/>
              <a:rect r="r" b="b" t="t" l="l"/>
              <a:pathLst>
                <a:path h="621792" w="621792">
                  <a:moveTo>
                    <a:pt x="0" y="0"/>
                  </a:moveTo>
                  <a:lnTo>
                    <a:pt x="621792" y="0"/>
                  </a:lnTo>
                  <a:lnTo>
                    <a:pt x="621792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19050"/>
              <a:ext cx="621792" cy="6408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01444C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✓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645920" y="5047488"/>
            <a:ext cx="14813280" cy="685800"/>
            <a:chOff x="0" y="0"/>
            <a:chExt cx="19751040" cy="9144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9751039" cy="914400"/>
            </a:xfrm>
            <a:custGeom>
              <a:avLst/>
              <a:gdLst/>
              <a:ahLst/>
              <a:cxnLst/>
              <a:rect r="r" b="b" t="t" l="l"/>
              <a:pathLst>
                <a:path h="914400" w="19751039">
                  <a:moveTo>
                    <a:pt x="0" y="0"/>
                  </a:moveTo>
                  <a:lnTo>
                    <a:pt x="19751039" y="0"/>
                  </a:lnTo>
                  <a:lnTo>
                    <a:pt x="19751039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70876" r="0" b="-370876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47625"/>
              <a:ext cx="19751040" cy="9620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10"/>
                </a:lnSpc>
              </a:pPr>
              <a:r>
                <a:rPr lang="en-US" sz="2175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Product Vision compartido por el equipo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960120" y="5952744"/>
            <a:ext cx="466344" cy="466344"/>
            <a:chOff x="0" y="0"/>
            <a:chExt cx="621792" cy="621792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621792" cy="621792"/>
            </a:xfrm>
            <a:custGeom>
              <a:avLst/>
              <a:gdLst/>
              <a:ahLst/>
              <a:cxnLst/>
              <a:rect r="r" b="b" t="t" l="l"/>
              <a:pathLst>
                <a:path h="621792" w="621792">
                  <a:moveTo>
                    <a:pt x="0" y="310896"/>
                  </a:moveTo>
                  <a:cubicBezTo>
                    <a:pt x="0" y="139192"/>
                    <a:pt x="139192" y="0"/>
                    <a:pt x="310896" y="0"/>
                  </a:cubicBezTo>
                  <a:cubicBezTo>
                    <a:pt x="482600" y="0"/>
                    <a:pt x="621792" y="139192"/>
                    <a:pt x="621792" y="310896"/>
                  </a:cubicBezTo>
                  <a:cubicBezTo>
                    <a:pt x="621792" y="482600"/>
                    <a:pt x="482600" y="621792"/>
                    <a:pt x="310896" y="621792"/>
                  </a:cubicBezTo>
                  <a:cubicBezTo>
                    <a:pt x="139192" y="621792"/>
                    <a:pt x="0" y="482600"/>
                    <a:pt x="0" y="310896"/>
                  </a:cubicBezTo>
                  <a:close/>
                </a:path>
              </a:pathLst>
            </a:custGeom>
            <a:solidFill>
              <a:srgbClr val="02C39A"/>
            </a:solid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960120" y="5952744"/>
            <a:ext cx="466344" cy="466344"/>
            <a:chOff x="0" y="0"/>
            <a:chExt cx="621792" cy="621792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621792" cy="621792"/>
            </a:xfrm>
            <a:custGeom>
              <a:avLst/>
              <a:gdLst/>
              <a:ahLst/>
              <a:cxnLst/>
              <a:rect r="r" b="b" t="t" l="l"/>
              <a:pathLst>
                <a:path h="621792" w="621792">
                  <a:moveTo>
                    <a:pt x="0" y="0"/>
                  </a:moveTo>
                  <a:lnTo>
                    <a:pt x="621792" y="0"/>
                  </a:lnTo>
                  <a:lnTo>
                    <a:pt x="621792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19050"/>
              <a:ext cx="621792" cy="6408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01444C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✓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1645920" y="5897880"/>
            <a:ext cx="14813280" cy="685800"/>
            <a:chOff x="0" y="0"/>
            <a:chExt cx="19751040" cy="9144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9751039" cy="914400"/>
            </a:xfrm>
            <a:custGeom>
              <a:avLst/>
              <a:gdLst/>
              <a:ahLst/>
              <a:cxnLst/>
              <a:rect r="r" b="b" t="t" l="l"/>
              <a:pathLst>
                <a:path h="914400" w="19751039">
                  <a:moveTo>
                    <a:pt x="0" y="0"/>
                  </a:moveTo>
                  <a:lnTo>
                    <a:pt x="19751039" y="0"/>
                  </a:lnTo>
                  <a:lnTo>
                    <a:pt x="19751039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70876" r="0" b="-370876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47625"/>
              <a:ext cx="19751040" cy="9620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10"/>
                </a:lnSpc>
              </a:pPr>
              <a:r>
                <a:rPr lang="en-US" sz="2175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Product Backlog inicial: 11 historias de usuario priorizadas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960120" y="6803136"/>
            <a:ext cx="466344" cy="466344"/>
            <a:chOff x="0" y="0"/>
            <a:chExt cx="621792" cy="621792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621792" cy="621792"/>
            </a:xfrm>
            <a:custGeom>
              <a:avLst/>
              <a:gdLst/>
              <a:ahLst/>
              <a:cxnLst/>
              <a:rect r="r" b="b" t="t" l="l"/>
              <a:pathLst>
                <a:path h="621792" w="621792">
                  <a:moveTo>
                    <a:pt x="0" y="310896"/>
                  </a:moveTo>
                  <a:cubicBezTo>
                    <a:pt x="0" y="139192"/>
                    <a:pt x="139192" y="0"/>
                    <a:pt x="310896" y="0"/>
                  </a:cubicBezTo>
                  <a:cubicBezTo>
                    <a:pt x="482600" y="0"/>
                    <a:pt x="621792" y="139192"/>
                    <a:pt x="621792" y="310896"/>
                  </a:cubicBezTo>
                  <a:cubicBezTo>
                    <a:pt x="621792" y="482600"/>
                    <a:pt x="482600" y="621792"/>
                    <a:pt x="310896" y="621792"/>
                  </a:cubicBezTo>
                  <a:cubicBezTo>
                    <a:pt x="139192" y="621792"/>
                    <a:pt x="0" y="482600"/>
                    <a:pt x="0" y="310896"/>
                  </a:cubicBezTo>
                  <a:close/>
                </a:path>
              </a:pathLst>
            </a:custGeom>
            <a:solidFill>
              <a:srgbClr val="02C39A"/>
            </a:solidFill>
          </p:spPr>
        </p:sp>
      </p:grpSp>
      <p:grpSp>
        <p:nvGrpSpPr>
          <p:cNvPr name="Group 39" id="39"/>
          <p:cNvGrpSpPr/>
          <p:nvPr/>
        </p:nvGrpSpPr>
        <p:grpSpPr>
          <a:xfrm rot="0">
            <a:off x="960120" y="6803136"/>
            <a:ext cx="466344" cy="466344"/>
            <a:chOff x="0" y="0"/>
            <a:chExt cx="621792" cy="621792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621792" cy="621792"/>
            </a:xfrm>
            <a:custGeom>
              <a:avLst/>
              <a:gdLst/>
              <a:ahLst/>
              <a:cxnLst/>
              <a:rect r="r" b="b" t="t" l="l"/>
              <a:pathLst>
                <a:path h="621792" w="621792">
                  <a:moveTo>
                    <a:pt x="0" y="0"/>
                  </a:moveTo>
                  <a:lnTo>
                    <a:pt x="621792" y="0"/>
                  </a:lnTo>
                  <a:lnTo>
                    <a:pt x="621792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-19050"/>
              <a:ext cx="621792" cy="6408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01444C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✓</a:t>
              </a: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1645920" y="6748272"/>
            <a:ext cx="14813280" cy="685800"/>
            <a:chOff x="0" y="0"/>
            <a:chExt cx="19751040" cy="91440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19751039" cy="914400"/>
            </a:xfrm>
            <a:custGeom>
              <a:avLst/>
              <a:gdLst/>
              <a:ahLst/>
              <a:cxnLst/>
              <a:rect r="r" b="b" t="t" l="l"/>
              <a:pathLst>
                <a:path h="914400" w="19751039">
                  <a:moveTo>
                    <a:pt x="0" y="0"/>
                  </a:moveTo>
                  <a:lnTo>
                    <a:pt x="19751039" y="0"/>
                  </a:lnTo>
                  <a:lnTo>
                    <a:pt x="19751039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70876" r="0" b="-370876"/>
              </a:stretch>
            </a:blipFill>
          </p:spPr>
        </p:sp>
        <p:sp>
          <p:nvSpPr>
            <p:cNvPr name="TextBox 44" id="44"/>
            <p:cNvSpPr txBox="true"/>
            <p:nvPr/>
          </p:nvSpPr>
          <p:spPr>
            <a:xfrm>
              <a:off x="0" y="-47625"/>
              <a:ext cx="19751040" cy="9620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10"/>
                </a:lnSpc>
              </a:pPr>
              <a:r>
                <a:rPr lang="en-US" sz="2175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Roles Scrum claramente asignados</a:t>
              </a: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950595" y="8014335"/>
            <a:ext cx="16341090" cy="1459230"/>
            <a:chOff x="0" y="0"/>
            <a:chExt cx="21788120" cy="194564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21788120" cy="1945640"/>
            </a:xfrm>
            <a:custGeom>
              <a:avLst/>
              <a:gdLst/>
              <a:ahLst/>
              <a:cxnLst/>
              <a:rect r="r" b="b" t="t" l="l"/>
              <a:pathLst>
                <a:path h="1945640" w="21788120">
                  <a:moveTo>
                    <a:pt x="0" y="185293"/>
                  </a:moveTo>
                  <a:cubicBezTo>
                    <a:pt x="0" y="82931"/>
                    <a:pt x="82931" y="0"/>
                    <a:pt x="185293" y="0"/>
                  </a:cubicBezTo>
                  <a:lnTo>
                    <a:pt x="21602827" y="0"/>
                  </a:lnTo>
                  <a:cubicBezTo>
                    <a:pt x="21705190" y="0"/>
                    <a:pt x="21788120" y="82931"/>
                    <a:pt x="21788120" y="185293"/>
                  </a:cubicBezTo>
                  <a:lnTo>
                    <a:pt x="21788120" y="1760347"/>
                  </a:lnTo>
                  <a:cubicBezTo>
                    <a:pt x="21788120" y="1862709"/>
                    <a:pt x="21705190" y="1945640"/>
                    <a:pt x="21602827" y="1945640"/>
                  </a:cubicBezTo>
                  <a:lnTo>
                    <a:pt x="185293" y="1945640"/>
                  </a:lnTo>
                  <a:cubicBezTo>
                    <a:pt x="82931" y="1945640"/>
                    <a:pt x="0" y="1862709"/>
                    <a:pt x="0" y="1760347"/>
                  </a:cubicBezTo>
                  <a:close/>
                </a:path>
              </a:pathLst>
            </a:custGeom>
            <a:solidFill>
              <a:srgbClr val="00A896">
                <a:alpha val="1961"/>
              </a:srgbClr>
            </a:solidFill>
            <a:ln w="19050" cap="sq">
              <a:solidFill>
                <a:srgbClr val="02C39A"/>
              </a:solidFill>
              <a:prstDash val="solid"/>
              <a:miter/>
            </a:ln>
          </p:spPr>
        </p:sp>
      </p:grpSp>
      <p:grpSp>
        <p:nvGrpSpPr>
          <p:cNvPr name="Group 47" id="47"/>
          <p:cNvGrpSpPr/>
          <p:nvPr/>
        </p:nvGrpSpPr>
        <p:grpSpPr>
          <a:xfrm rot="0">
            <a:off x="1371600" y="8023860"/>
            <a:ext cx="15499080" cy="1440180"/>
            <a:chOff x="0" y="0"/>
            <a:chExt cx="20665440" cy="192024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20665439" cy="1920240"/>
            </a:xfrm>
            <a:custGeom>
              <a:avLst/>
              <a:gdLst/>
              <a:ahLst/>
              <a:cxnLst/>
              <a:rect r="r" b="b" t="t" l="l"/>
              <a:pathLst>
                <a:path h="1920240" w="20665439">
                  <a:moveTo>
                    <a:pt x="0" y="0"/>
                  </a:moveTo>
                  <a:lnTo>
                    <a:pt x="20665439" y="0"/>
                  </a:lnTo>
                  <a:lnTo>
                    <a:pt x="20665439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9696" r="0" b="-159696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-85725"/>
              <a:ext cx="20665440" cy="20059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916"/>
                </a:lnSpc>
              </a:pPr>
              <a:r>
                <a:rPr lang="en-US" sz="20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El alcance definido es técnicamente factible con el stack y el plazo actuales, dando al equipo un punto de partida sólido para la Fase de Construcción.</a:t>
              </a:r>
            </a:p>
          </p:txBody>
        </p:sp>
      </p:grpSp>
      <p:sp>
        <p:nvSpPr>
          <p:cNvPr name="Freeform 50" id="50"/>
          <p:cNvSpPr/>
          <p:nvPr/>
        </p:nvSpPr>
        <p:spPr>
          <a:xfrm flipH="false" flipV="false" rot="0">
            <a:off x="15560095" y="20760"/>
            <a:ext cx="2727905" cy="668427"/>
          </a:xfrm>
          <a:custGeom>
            <a:avLst/>
            <a:gdLst/>
            <a:ahLst/>
            <a:cxnLst/>
            <a:rect r="r" b="b" t="t" l="l"/>
            <a:pathLst>
              <a:path h="668427" w="2727905">
                <a:moveTo>
                  <a:pt x="0" y="0"/>
                </a:moveTo>
                <a:lnTo>
                  <a:pt x="2727905" y="0"/>
                </a:lnTo>
                <a:lnTo>
                  <a:pt x="2727905" y="668427"/>
                </a:lnTo>
                <a:lnTo>
                  <a:pt x="0" y="66842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1" id="51"/>
          <p:cNvSpPr/>
          <p:nvPr/>
        </p:nvSpPr>
        <p:spPr>
          <a:xfrm flipH="false" flipV="false" rot="0">
            <a:off x="8344186" y="0"/>
            <a:ext cx="1553908" cy="1551492"/>
          </a:xfrm>
          <a:custGeom>
            <a:avLst/>
            <a:gdLst/>
            <a:ahLst/>
            <a:cxnLst/>
            <a:rect r="r" b="b" t="t" l="l"/>
            <a:pathLst>
              <a:path h="1551492" w="1553908">
                <a:moveTo>
                  <a:pt x="0" y="0"/>
                </a:moveTo>
                <a:lnTo>
                  <a:pt x="1553908" y="0"/>
                </a:lnTo>
                <a:lnTo>
                  <a:pt x="1553908" y="1551492"/>
                </a:lnTo>
                <a:lnTo>
                  <a:pt x="0" y="155149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DAHTzSQswgg</dc:identifier>
  <dcterms:modified xsi:type="dcterms:W3CDTF">2011-08-01T06:04:30Z</dcterms:modified>
  <cp:revision>1</cp:revision>
  <dc:title>FitSearch.pptx</dc:title>
</cp:coreProperties>
</file>