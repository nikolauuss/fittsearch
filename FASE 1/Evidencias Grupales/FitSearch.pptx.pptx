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mbria Bold" charset="1" panose="0204080305040603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0"/>
    </p:embeddedFont>
    <p:embeddedFont>
      <p:font typeface="Cambria Italics" charset="1" panose="020405030504060A0204"/>
      <p:regular r:id="rId23"/>
    </p:embeddedFont>
    <p:embeddedFont>
      <p:font typeface="Calibri (MS) Bold Italics" charset="1" panose="020F07020304040A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28090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36796" y="2910542"/>
            <a:ext cx="4937760" cy="4937760"/>
            <a:chOff x="0" y="0"/>
            <a:chExt cx="6583680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blipFill>
              <a:blip r:embed="rId3">
                <a:alphaModFix amt="4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2057400"/>
            <a:ext cx="12344400" cy="548640"/>
            <a:chOff x="0" y="0"/>
            <a:chExt cx="164592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PTY4614 — CAPSTONE · EVALUACIÓN FASE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674620"/>
            <a:ext cx="13716000" cy="1920240"/>
            <a:chOff x="0" y="0"/>
            <a:chExt cx="18288000" cy="2560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828800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FitSearch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4457700"/>
            <a:ext cx="12344400" cy="822960"/>
            <a:chOff x="0" y="0"/>
            <a:chExt cx="164592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645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4F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Definición del Proyecto APT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5184648"/>
            <a:ext cx="12344400" cy="685800"/>
            <a:chOff x="0" y="0"/>
            <a:chExt cx="164592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8600" r="0" b="-8486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4592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BFEAE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Plataforma inteligente de salud, deporte y bienestar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22260">
            <a:off x="1082945" y="6436995"/>
            <a:ext cx="4417790" cy="0"/>
          </a:xfrm>
          <a:prstGeom prst="line">
            <a:avLst/>
          </a:prstGeom>
          <a:ln cap="rnd" w="19050">
            <a:solidFill>
              <a:srgbClr val="02C3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097280" y="6720840"/>
            <a:ext cx="12344400" cy="548640"/>
            <a:chOff x="0" y="0"/>
            <a:chExt cx="164592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645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Rodrigo Cárcamo ·   Luis Méndez   ·   Nicolás Silva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7269480"/>
            <a:ext cx="12344400" cy="480060"/>
            <a:chOff x="0" y="0"/>
            <a:chExt cx="164592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C9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Metodología Ágil (Scrum)  · 31 Agosto 2026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560095" y="20760"/>
            <a:ext cx="2727905" cy="668427"/>
          </a:xfrm>
          <a:custGeom>
            <a:avLst/>
            <a:gdLst/>
            <a:ahLst/>
            <a:cxnLst/>
            <a:rect r="r" b="b" t="t" l="l"/>
            <a:pathLst>
              <a:path h="668427" w="2727905">
                <a:moveTo>
                  <a:pt x="0" y="0"/>
                </a:moveTo>
                <a:lnTo>
                  <a:pt x="2727905" y="0"/>
                </a:lnTo>
                <a:lnTo>
                  <a:pt x="2727905" y="668427"/>
                </a:lnTo>
                <a:lnTo>
                  <a:pt x="0" y="6684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· DEFINICIÓN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087600" cy="1028700"/>
            <a:chOff x="0" y="0"/>
            <a:chExt cx="201168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¿Qué es FitSearch?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366760" cy="2331720"/>
            <a:chOff x="0" y="0"/>
            <a:chExt cx="1115568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6" r="0" b="-199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1155680" cy="3223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250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web responsiva que conecta a los usuarios con profesionales, instituciones y servicios de salud, deporte y bienestar, usando principalmente la ubicación del usuario, sus necesidades y herramientas de inteligencia artificial.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869180"/>
            <a:ext cx="8366760" cy="2057400"/>
            <a:chOff x="0" y="0"/>
            <a:chExt cx="1115568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55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1155680" cy="2838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diferencia de un directorio tradicional, no depende solo de profesionales registrados voluntariamente: también incorpora información de fuentes externas y públicas, permitiendo que un profesional luego reclame y administre su propio perfil.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12680" y="2400300"/>
            <a:ext cx="850392" cy="850392"/>
            <a:chOff x="0" y="0"/>
            <a:chExt cx="1133856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12680" y="2400300"/>
            <a:ext cx="850392" cy="850392"/>
            <a:chOff x="0" y="0"/>
            <a:chExt cx="1133856" cy="11338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78540" y="2359152"/>
            <a:ext cx="6309360" cy="548640"/>
            <a:chOff x="0" y="0"/>
            <a:chExt cx="84124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412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Descubrir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78540" y="2894076"/>
            <a:ext cx="6309360" cy="1028700"/>
            <a:chOff x="0" y="0"/>
            <a:chExt cx="841248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08" r="0" b="-6950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841248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Buscar profesionales y establecimientos por ubicación y especialidad.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12680" y="4114800"/>
            <a:ext cx="850392" cy="850392"/>
            <a:chOff x="0" y="0"/>
            <a:chExt cx="1133856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12680" y="4114800"/>
            <a:ext cx="850392" cy="850392"/>
            <a:chOff x="0" y="0"/>
            <a:chExt cx="1133856" cy="11338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178540" y="4073652"/>
            <a:ext cx="6309360" cy="548640"/>
            <a:chOff x="0" y="0"/>
            <a:chExt cx="84124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8412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Orientar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78540" y="4608576"/>
            <a:ext cx="6309360" cy="1028700"/>
            <a:chOff x="0" y="0"/>
            <a:chExt cx="841248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12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08" r="0" b="-695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41248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Conversar con un asistente de IA sobre salud, nutrición y deporte.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12680" y="5829300"/>
            <a:ext cx="850392" cy="850392"/>
            <a:chOff x="0" y="0"/>
            <a:chExt cx="1133856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12680" y="5829300"/>
            <a:ext cx="850392" cy="850392"/>
            <a:chOff x="0" y="0"/>
            <a:chExt cx="1133856" cy="1133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178540" y="5788152"/>
            <a:ext cx="6309360" cy="548640"/>
            <a:chOff x="0" y="0"/>
            <a:chExt cx="841248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8412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Hacer seguimiento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178540" y="6323076"/>
            <a:ext cx="6309360" cy="1028700"/>
            <a:chOff x="0" y="0"/>
            <a:chExt cx="8412480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2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08" r="0" b="-695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841248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alimentación en lenguaje natural y seguir calorías/macros.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3435" y="7328535"/>
            <a:ext cx="16615410" cy="1322070"/>
            <a:chOff x="0" y="0"/>
            <a:chExt cx="22153880" cy="1762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1538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221538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2005417" y="0"/>
                  </a:lnTo>
                  <a:cubicBezTo>
                    <a:pt x="22087458" y="0"/>
                    <a:pt x="22153880" y="66421"/>
                    <a:pt x="22153880" y="148463"/>
                  </a:cubicBezTo>
                  <a:lnTo>
                    <a:pt x="22153880" y="1614297"/>
                  </a:lnTo>
                  <a:cubicBezTo>
                    <a:pt x="22153880" y="1696339"/>
                    <a:pt x="22087458" y="1762760"/>
                    <a:pt x="2200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028090">
                <a:alpha val="784"/>
              </a:srgbClr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34440" y="7338060"/>
            <a:ext cx="15773400" cy="1303020"/>
            <a:chOff x="0" y="0"/>
            <a:chExt cx="21031200" cy="1737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031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103120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144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Metodología: Ágil (Scrum)  ·  Equipo de 3 integrantes  ·  18 semanas (Capstone PTY4614)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FitSearch — Definición del Proyecto APT (Fase 1)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854428" y="9710928"/>
            <a:ext cx="2743200" cy="411480"/>
            <a:chOff x="0" y="0"/>
            <a:chExt cx="36576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5560095" y="20760"/>
            <a:ext cx="2727905" cy="668427"/>
          </a:xfrm>
          <a:custGeom>
            <a:avLst/>
            <a:gdLst/>
            <a:ahLst/>
            <a:cxnLst/>
            <a:rect r="r" b="b" t="t" l="l"/>
            <a:pathLst>
              <a:path h="668427" w="2727905">
                <a:moveTo>
                  <a:pt x="0" y="0"/>
                </a:moveTo>
                <a:lnTo>
                  <a:pt x="2727905" y="0"/>
                </a:lnTo>
                <a:lnTo>
                  <a:pt x="2727905" y="668427"/>
                </a:lnTo>
                <a:lnTo>
                  <a:pt x="0" y="668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8344186" y="0"/>
            <a:ext cx="1553908" cy="1551492"/>
          </a:xfrm>
          <a:custGeom>
            <a:avLst/>
            <a:gdLst/>
            <a:ahLst/>
            <a:cxnLst/>
            <a:rect r="r" b="b" t="t" l="l"/>
            <a:pathLst>
              <a:path h="1551492" w="1553908">
                <a:moveTo>
                  <a:pt x="0" y="0"/>
                </a:moveTo>
                <a:lnTo>
                  <a:pt x="1553908" y="0"/>
                </a:lnTo>
                <a:lnTo>
                  <a:pt x="1553908" y="1551492"/>
                </a:lnTo>
                <a:lnTo>
                  <a:pt x="0" y="1551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· PROBLEMÁTICA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087600" cy="1028700"/>
            <a:chOff x="0" y="0"/>
            <a:chExt cx="201168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problema que aborda FitSearch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459355"/>
            <a:ext cx="16615410" cy="2625090"/>
            <a:chOff x="0" y="0"/>
            <a:chExt cx="22153880" cy="3500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53880" cy="3500120"/>
            </a:xfrm>
            <a:custGeom>
              <a:avLst/>
              <a:gdLst/>
              <a:ahLst/>
              <a:cxnLst/>
              <a:rect r="r" b="b" t="t" l="l"/>
              <a:pathLst>
                <a:path h="3500120" w="22153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21969730" y="0"/>
                  </a:lnTo>
                  <a:cubicBezTo>
                    <a:pt x="22071457" y="0"/>
                    <a:pt x="22153880" y="82423"/>
                    <a:pt x="22153880" y="184150"/>
                  </a:cubicBezTo>
                  <a:lnTo>
                    <a:pt x="22153880" y="3315970"/>
                  </a:lnTo>
                  <a:cubicBezTo>
                    <a:pt x="22153880" y="3417697"/>
                    <a:pt x="22071457" y="3500120"/>
                    <a:pt x="21969730" y="3500120"/>
                  </a:cubicBezTo>
                  <a:lnTo>
                    <a:pt x="184150" y="3500120"/>
                  </a:lnTo>
                  <a:cubicBezTo>
                    <a:pt x="82423" y="3500120"/>
                    <a:pt x="0" y="3417697"/>
                    <a:pt x="0" y="33159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468880"/>
            <a:ext cx="15636240" cy="2606040"/>
            <a:chOff x="0" y="0"/>
            <a:chExt cx="20848320" cy="347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483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0848320" cy="3589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sz="2700" i="true">
                  <a:solidFill>
                    <a:srgbClr val="01444C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Las personas que buscan mejorar su salud, condición física o alimentación deben recurrir a distintas aplicaciones o directorios dispersos para encontrar profesionales, informarse y llevar seguimiento de su progreso, lo que dificulta un proceso que debería ser simple y guiado.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5554980"/>
            <a:ext cx="13716000" cy="548640"/>
            <a:chOff x="0" y="0"/>
            <a:chExt cx="182880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Dificultades identificadas para el desarrollo del proyecto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6240780"/>
            <a:ext cx="8092440" cy="2537460"/>
            <a:chOff x="0" y="0"/>
            <a:chExt cx="10789920" cy="3383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236976"/>
                  </a:lnTo>
                  <a:cubicBezTo>
                    <a:pt x="10789920" y="3317748"/>
                    <a:pt x="10724388" y="3383280"/>
                    <a:pt x="106436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1444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440" y="6515100"/>
            <a:ext cx="7269480" cy="617220"/>
            <a:chOff x="0" y="0"/>
            <a:chExt cx="9692640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822960"/>
            </a:xfrm>
            <a:custGeom>
              <a:avLst/>
              <a:gdLst/>
              <a:ahLst/>
              <a:cxnLst/>
              <a:rect r="r" b="b" t="t" l="l"/>
              <a:pathLst>
                <a:path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490" r="0" b="-1794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6926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Integración del asistente de IA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7132320"/>
            <a:ext cx="7269480" cy="1508760"/>
            <a:chOff x="0" y="0"/>
            <a:chExt cx="969264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2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969264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F4F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Conectar el asistente (function calling) con las herramientas internas de la plataforma.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26880" y="6240780"/>
            <a:ext cx="8092440" cy="2537460"/>
            <a:chOff x="0" y="0"/>
            <a:chExt cx="10789920" cy="3383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236976"/>
                  </a:lnTo>
                  <a:cubicBezTo>
                    <a:pt x="10789920" y="3317748"/>
                    <a:pt x="10724388" y="3383280"/>
                    <a:pt x="106436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1444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38360" y="6515100"/>
            <a:ext cx="7269480" cy="617220"/>
            <a:chOff x="0" y="0"/>
            <a:chExt cx="969264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92640" cy="822960"/>
            </a:xfrm>
            <a:custGeom>
              <a:avLst/>
              <a:gdLst/>
              <a:ahLst/>
              <a:cxnLst/>
              <a:rect r="r" b="b" t="t" l="l"/>
              <a:pathLst>
                <a:path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490" r="0" b="-1794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6926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Coordinación de horarios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38360" y="7132320"/>
            <a:ext cx="7269480" cy="1508760"/>
            <a:chOff x="0" y="0"/>
            <a:chExt cx="9692640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92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969264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F4F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Alinear al equipo de 3 personas para las reuniones ágiles del proyecto.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FitSearch — Definición del Proyecto APT (Fase 1)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854428" y="9710928"/>
            <a:ext cx="2743200" cy="411480"/>
            <a:chOff x="0" y="0"/>
            <a:chExt cx="36576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5560095" y="20760"/>
            <a:ext cx="2727905" cy="668427"/>
          </a:xfrm>
          <a:custGeom>
            <a:avLst/>
            <a:gdLst/>
            <a:ahLst/>
            <a:cxnLst/>
            <a:rect r="r" b="b" t="t" l="l"/>
            <a:pathLst>
              <a:path h="668427" w="2727905">
                <a:moveTo>
                  <a:pt x="0" y="0"/>
                </a:moveTo>
                <a:lnTo>
                  <a:pt x="2727905" y="0"/>
                </a:lnTo>
                <a:lnTo>
                  <a:pt x="2727905" y="668427"/>
                </a:lnTo>
                <a:lnTo>
                  <a:pt x="0" y="668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344186" y="0"/>
            <a:ext cx="1553908" cy="1551492"/>
          </a:xfrm>
          <a:custGeom>
            <a:avLst/>
            <a:gdLst/>
            <a:ahLst/>
            <a:cxnLst/>
            <a:rect r="r" b="b" t="t" l="l"/>
            <a:pathLst>
              <a:path h="1551492" w="1553908">
                <a:moveTo>
                  <a:pt x="0" y="0"/>
                </a:moveTo>
                <a:lnTo>
                  <a:pt x="1553908" y="0"/>
                </a:lnTo>
                <a:lnTo>
                  <a:pt x="1553908" y="1551492"/>
                </a:lnTo>
                <a:lnTo>
                  <a:pt x="0" y="1551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· OBJETIVOS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087600" cy="1028700"/>
            <a:chOff x="0" y="0"/>
            <a:chExt cx="201168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 y específicos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16596360" cy="1577340"/>
            <a:chOff x="0" y="0"/>
            <a:chExt cx="22128480" cy="2103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1920240"/>
                  </a:lnTo>
                  <a:cubicBezTo>
                    <a:pt x="22128480" y="2021205"/>
                    <a:pt x="22046564" y="2103120"/>
                    <a:pt x="2194560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537460"/>
            <a:ext cx="15636240" cy="411480"/>
            <a:chOff x="0" y="0"/>
            <a:chExt cx="2084832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48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431" r="0" b="-6904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08483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7F5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2921508"/>
            <a:ext cx="15636240" cy="1028700"/>
            <a:chOff x="0" y="0"/>
            <a:chExt cx="20848320" cy="137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4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084832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FitSearch, una plataforma web responsiva que permita encontrar de forma rápida y geolocalizada profesionales y establecimientos de salud, deporte y bienestar, apoyada por un asistente de IA y herramientas de seguimiento nutricional.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4320540"/>
            <a:ext cx="8229600" cy="411480"/>
            <a:chOff x="0" y="0"/>
            <a:chExt cx="109728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4869180"/>
            <a:ext cx="493776" cy="493776"/>
            <a:chOff x="0" y="0"/>
            <a:chExt cx="658368" cy="658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4869180"/>
            <a:ext cx="493776" cy="493776"/>
            <a:chOff x="0" y="0"/>
            <a:chExt cx="658368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8760" y="4800600"/>
            <a:ext cx="7475220" cy="891540"/>
            <a:chOff x="0" y="0"/>
            <a:chExt cx="996696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66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966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Registro, autenticación y perfiles de usuarios y profesionales.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58300" y="4869180"/>
            <a:ext cx="493776" cy="493776"/>
            <a:chOff x="0" y="0"/>
            <a:chExt cx="658368" cy="6583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58300" y="4869180"/>
            <a:ext cx="493776" cy="493776"/>
            <a:chOff x="0" y="0"/>
            <a:chExt cx="658368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44100" y="4800600"/>
            <a:ext cx="7475220" cy="891540"/>
            <a:chOff x="0" y="0"/>
            <a:chExt cx="996696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66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966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Directorio y buscador geolocalizado con filtros por especialidad, distancia y disponibilidad.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5897880"/>
            <a:ext cx="493776" cy="493776"/>
            <a:chOff x="0" y="0"/>
            <a:chExt cx="658368" cy="6583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5897880"/>
            <a:ext cx="493776" cy="493776"/>
            <a:chOff x="0" y="0"/>
            <a:chExt cx="658368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08760" y="5829300"/>
            <a:ext cx="7475220" cy="891540"/>
            <a:chOff x="0" y="0"/>
            <a:chExt cx="9966960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66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966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Visualización de resultados en mapa y en lista.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58300" y="5897880"/>
            <a:ext cx="493776" cy="493776"/>
            <a:chOff x="0" y="0"/>
            <a:chExt cx="658368" cy="6583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258300" y="5897880"/>
            <a:ext cx="493776" cy="493776"/>
            <a:chOff x="0" y="0"/>
            <a:chExt cx="658368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944100" y="5829300"/>
            <a:ext cx="7475220" cy="891540"/>
            <a:chOff x="0" y="0"/>
            <a:chExt cx="9966960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66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9966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Asistente de IA que oriente, resuelva dudas generales y recomiende profesionales.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2960" y="6926580"/>
            <a:ext cx="493776" cy="493776"/>
            <a:chOff x="0" y="0"/>
            <a:chExt cx="658368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22960" y="6926580"/>
            <a:ext cx="493776" cy="493776"/>
            <a:chOff x="0" y="0"/>
            <a:chExt cx="658368" cy="6583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08760" y="6858000"/>
            <a:ext cx="7475220" cy="891540"/>
            <a:chOff x="0" y="0"/>
            <a:chExt cx="9966960" cy="1188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66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9966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Gestor de alimentación: registro por lenguaje natural y cálculo de calorías/macronutrientes.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58300" y="6926580"/>
            <a:ext cx="493776" cy="493776"/>
            <a:chOff x="0" y="0"/>
            <a:chExt cx="658368" cy="6583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258300" y="6926580"/>
            <a:ext cx="493776" cy="493776"/>
            <a:chOff x="0" y="0"/>
            <a:chExt cx="658368" cy="6583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944100" y="6858000"/>
            <a:ext cx="7475220" cy="891540"/>
            <a:chOff x="0" y="0"/>
            <a:chExt cx="9966960" cy="1188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966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9966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datos relacional y escalable en MySQL.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7955280"/>
            <a:ext cx="493776" cy="493776"/>
            <a:chOff x="0" y="0"/>
            <a:chExt cx="658368" cy="6583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22960" y="7955280"/>
            <a:ext cx="493776" cy="493776"/>
            <a:chOff x="0" y="0"/>
            <a:chExt cx="658368" cy="6583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08760" y="7886700"/>
            <a:ext cx="7475220" cy="891540"/>
            <a:chOff x="0" y="0"/>
            <a:chExt cx="9966960" cy="11887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966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9966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Despliegue con contenedores Docker para portabilidad e instalación fácil.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FitSearch — Definición del Proyecto APT (Fase 1)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854428" y="9710928"/>
            <a:ext cx="2743200" cy="411480"/>
            <a:chOff x="0" y="0"/>
            <a:chExt cx="36576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15560095" y="20760"/>
            <a:ext cx="2727905" cy="668427"/>
          </a:xfrm>
          <a:custGeom>
            <a:avLst/>
            <a:gdLst/>
            <a:ahLst/>
            <a:cxnLst/>
            <a:rect r="r" b="b" t="t" l="l"/>
            <a:pathLst>
              <a:path h="668427" w="2727905">
                <a:moveTo>
                  <a:pt x="0" y="0"/>
                </a:moveTo>
                <a:lnTo>
                  <a:pt x="2727905" y="0"/>
                </a:lnTo>
                <a:lnTo>
                  <a:pt x="2727905" y="668427"/>
                </a:lnTo>
                <a:lnTo>
                  <a:pt x="0" y="668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8344186" y="0"/>
            <a:ext cx="1553908" cy="1551492"/>
          </a:xfrm>
          <a:custGeom>
            <a:avLst/>
            <a:gdLst/>
            <a:ahLst/>
            <a:cxnLst/>
            <a:rect r="r" b="b" t="t" l="l"/>
            <a:pathLst>
              <a:path h="1551492" w="1553908">
                <a:moveTo>
                  <a:pt x="0" y="0"/>
                </a:moveTo>
                <a:lnTo>
                  <a:pt x="1553908" y="0"/>
                </a:lnTo>
                <a:lnTo>
                  <a:pt x="1553908" y="1551492"/>
                </a:lnTo>
                <a:lnTo>
                  <a:pt x="0" y="1551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· ALCANCES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087600" cy="1028700"/>
            <a:chOff x="0" y="0"/>
            <a:chExt cx="201168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Alcance del MVP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8672" y="2386012"/>
            <a:ext cx="8121015" cy="4897755"/>
            <a:chOff x="0" y="0"/>
            <a:chExt cx="10828020" cy="65303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28020" cy="6530340"/>
            </a:xfrm>
            <a:custGeom>
              <a:avLst/>
              <a:gdLst/>
              <a:ahLst/>
              <a:cxnLst/>
              <a:rect r="r" b="b" t="t" l="l"/>
              <a:pathLst>
                <a:path h="6530340" w="108280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643997" y="0"/>
                  </a:lnTo>
                  <a:cubicBezTo>
                    <a:pt x="10745597" y="0"/>
                    <a:pt x="10828020" y="82423"/>
                    <a:pt x="10828020" y="184023"/>
                  </a:cubicBezTo>
                  <a:lnTo>
                    <a:pt x="10828020" y="6346317"/>
                  </a:lnTo>
                  <a:cubicBezTo>
                    <a:pt x="10828020" y="6447917"/>
                    <a:pt x="10745597" y="6530340"/>
                    <a:pt x="10643997" y="6530340"/>
                  </a:cubicBezTo>
                  <a:lnTo>
                    <a:pt x="184023" y="6530340"/>
                  </a:lnTo>
                  <a:cubicBezTo>
                    <a:pt x="82423" y="6530340"/>
                    <a:pt x="0" y="6447917"/>
                    <a:pt x="0" y="634631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674620"/>
            <a:ext cx="7269480" cy="480060"/>
            <a:chOff x="0" y="0"/>
            <a:chExt cx="969264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INCLUIDO EN EL MVP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291840"/>
            <a:ext cx="411480" cy="411480"/>
            <a:chOff x="0" y="0"/>
            <a:chExt cx="54864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3291840"/>
            <a:ext cx="411480" cy="411480"/>
            <a:chOff x="0" y="0"/>
            <a:chExt cx="54864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51660" y="3209544"/>
            <a:ext cx="6720840" cy="822960"/>
            <a:chOff x="0" y="0"/>
            <a:chExt cx="896112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961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usuarios y perfiles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4279392"/>
            <a:ext cx="411480" cy="411480"/>
            <a:chOff x="0" y="0"/>
            <a:chExt cx="54864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" y="4279392"/>
            <a:ext cx="411480" cy="411480"/>
            <a:chOff x="0" y="0"/>
            <a:chExt cx="54864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51660" y="4197096"/>
            <a:ext cx="6720840" cy="822960"/>
            <a:chOff x="0" y="0"/>
            <a:chExt cx="896112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8961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Directorio y búsqueda geolocalizada de profesionales/establecimientos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440" y="5266944"/>
            <a:ext cx="411480" cy="411480"/>
            <a:chOff x="0" y="0"/>
            <a:chExt cx="54864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4440" y="5266944"/>
            <a:ext cx="411480" cy="411480"/>
            <a:chOff x="0" y="0"/>
            <a:chExt cx="54864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51660" y="5184648"/>
            <a:ext cx="6720840" cy="822960"/>
            <a:chOff x="0" y="0"/>
            <a:chExt cx="896112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961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Asistente de IA con orientación general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" y="6254496"/>
            <a:ext cx="411480" cy="411480"/>
            <a:chOff x="0" y="0"/>
            <a:chExt cx="54864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6254496"/>
            <a:ext cx="411480" cy="411480"/>
            <a:chOff x="0" y="0"/>
            <a:chExt cx="5486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851660" y="6172200"/>
            <a:ext cx="6720840" cy="822960"/>
            <a:chOff x="0" y="0"/>
            <a:chExt cx="896112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8961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0B2B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Gestor de alimentación con registro por lenguaje natural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12593" y="2386012"/>
            <a:ext cx="8121015" cy="4897755"/>
            <a:chOff x="0" y="0"/>
            <a:chExt cx="10828020" cy="65303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28020" cy="6530340"/>
            </a:xfrm>
            <a:custGeom>
              <a:avLst/>
              <a:gdLst/>
              <a:ahLst/>
              <a:cxnLst/>
              <a:rect r="r" b="b" t="t" l="l"/>
              <a:pathLst>
                <a:path h="6530340" w="108280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643997" y="0"/>
                  </a:lnTo>
                  <a:cubicBezTo>
                    <a:pt x="10745597" y="0"/>
                    <a:pt x="10828020" y="82423"/>
                    <a:pt x="10828020" y="184023"/>
                  </a:cubicBezTo>
                  <a:lnTo>
                    <a:pt x="10828020" y="6346317"/>
                  </a:lnTo>
                  <a:cubicBezTo>
                    <a:pt x="10828020" y="6447917"/>
                    <a:pt x="10745597" y="6530340"/>
                    <a:pt x="10643997" y="6530340"/>
                  </a:cubicBezTo>
                  <a:lnTo>
                    <a:pt x="184023" y="6530340"/>
                  </a:lnTo>
                  <a:cubicBezTo>
                    <a:pt x="82423" y="6530340"/>
                    <a:pt x="0" y="6447917"/>
                    <a:pt x="0" y="634631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C9C9C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738360" y="2674620"/>
            <a:ext cx="7269480" cy="480060"/>
            <a:chOff x="0" y="0"/>
            <a:chExt cx="969264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E7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FUERA DE ALCANCE (ESTE SEMESTRE)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38360" y="3291840"/>
            <a:ext cx="411480" cy="411480"/>
            <a:chOff x="0" y="0"/>
            <a:chExt cx="54864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AFAFA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38360" y="3291840"/>
            <a:ext cx="411480" cy="411480"/>
            <a:chOff x="0" y="0"/>
            <a:chExt cx="54864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✕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355580" y="3209544"/>
            <a:ext cx="6720840" cy="822960"/>
            <a:chOff x="0" y="0"/>
            <a:chExt cx="896112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8961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Reservas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38360" y="4279392"/>
            <a:ext cx="411480" cy="411480"/>
            <a:chOff x="0" y="0"/>
            <a:chExt cx="54864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AFAFA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738360" y="4279392"/>
            <a:ext cx="411480" cy="411480"/>
            <a:chOff x="0" y="0"/>
            <a:chExt cx="5486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✕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355580" y="4197096"/>
            <a:ext cx="6720840" cy="822960"/>
            <a:chOff x="0" y="0"/>
            <a:chExt cx="8961120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8961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Pagos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738360" y="5266944"/>
            <a:ext cx="411480" cy="411480"/>
            <a:chOff x="0" y="0"/>
            <a:chExt cx="54864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AFAFA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738360" y="5266944"/>
            <a:ext cx="411480" cy="411480"/>
            <a:chOff x="0" y="0"/>
            <a:chExt cx="54864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✕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355580" y="5184648"/>
            <a:ext cx="6720840" cy="822960"/>
            <a:chOff x="0" y="0"/>
            <a:chExt cx="896112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8961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Verificación avanzada de profesionales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38360" y="6254496"/>
            <a:ext cx="411480" cy="411480"/>
            <a:chOff x="0" y="0"/>
            <a:chExt cx="54864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AFAFA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738360" y="6254496"/>
            <a:ext cx="411480" cy="411480"/>
            <a:chOff x="0" y="0"/>
            <a:chExt cx="54864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✕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355580" y="6172200"/>
            <a:ext cx="6720840" cy="822960"/>
            <a:chOff x="0" y="0"/>
            <a:chExt cx="8961120" cy="10972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8961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Integraciones con wearables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7612380"/>
            <a:ext cx="16596360" cy="1165860"/>
            <a:chOff x="0" y="0"/>
            <a:chExt cx="22128480" cy="15544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408176"/>
                  </a:lnTo>
                  <a:cubicBezTo>
                    <a:pt x="22128480" y="1488948"/>
                    <a:pt x="22062948" y="1554480"/>
                    <a:pt x="2198217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01444C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34440" y="7612380"/>
            <a:ext cx="15773400" cy="1165860"/>
            <a:chOff x="0" y="0"/>
            <a:chExt cx="21031200" cy="15544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03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621" r="0" b="-21362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66675"/>
              <a:ext cx="210312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F4F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Restricciones: equipo de 3 integrantes · 18 semanas (11 efectivas de construcción) · dependencia de Google Maps Platform y de la API de Claude (Anthropic)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FitSearch — Definición del Proyecto APT (Fase 1)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854428" y="9710928"/>
            <a:ext cx="2743200" cy="411480"/>
            <a:chOff x="0" y="0"/>
            <a:chExt cx="365760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15560095" y="20760"/>
            <a:ext cx="2727905" cy="668427"/>
          </a:xfrm>
          <a:custGeom>
            <a:avLst/>
            <a:gdLst/>
            <a:ahLst/>
            <a:cxnLst/>
            <a:rect r="r" b="b" t="t" l="l"/>
            <a:pathLst>
              <a:path h="668427" w="2727905">
                <a:moveTo>
                  <a:pt x="0" y="0"/>
                </a:moveTo>
                <a:lnTo>
                  <a:pt x="2727905" y="0"/>
                </a:lnTo>
                <a:lnTo>
                  <a:pt x="2727905" y="668427"/>
                </a:lnTo>
                <a:lnTo>
                  <a:pt x="0" y="668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8344186" y="0"/>
            <a:ext cx="1553908" cy="1551492"/>
          </a:xfrm>
          <a:custGeom>
            <a:avLst/>
            <a:gdLst/>
            <a:ahLst/>
            <a:cxnLst/>
            <a:rect r="r" b="b" t="t" l="l"/>
            <a:pathLst>
              <a:path h="1551492" w="1553908">
                <a:moveTo>
                  <a:pt x="0" y="0"/>
                </a:moveTo>
                <a:lnTo>
                  <a:pt x="1553908" y="0"/>
                </a:lnTo>
                <a:lnTo>
                  <a:pt x="1553908" y="1551492"/>
                </a:lnTo>
                <a:lnTo>
                  <a:pt x="0" y="1551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15350" y="133350"/>
            <a:ext cx="1276350" cy="1143000"/>
            <a:chOff x="0" y="0"/>
            <a:chExt cx="1701800" cy="1524000"/>
          </a:xfrm>
        </p:grpSpPr>
        <p:sp>
          <p:nvSpPr>
            <p:cNvPr name="Freeform 3" id="3" descr="fitsearch_logo.png"/>
            <p:cNvSpPr/>
            <p:nvPr/>
          </p:nvSpPr>
          <p:spPr>
            <a:xfrm flipH="false" flipV="false" rot="0">
              <a:off x="0" y="0"/>
              <a:ext cx="1701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701800">
                  <a:moveTo>
                    <a:pt x="0" y="0"/>
                  </a:moveTo>
                  <a:lnTo>
                    <a:pt x="1701800" y="0"/>
                  </a:lnTo>
                  <a:lnTo>
                    <a:pt x="17018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5" t="0" r="-103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0500" y="0"/>
            <a:ext cx="2857500" cy="838200"/>
            <a:chOff x="0" y="0"/>
            <a:chExt cx="3810000" cy="1117600"/>
          </a:xfrm>
        </p:grpSpPr>
        <p:sp>
          <p:nvSpPr>
            <p:cNvPr name="Freeform 5" id="5" descr="duoc_logo.png"/>
            <p:cNvSpPr/>
            <p:nvPr/>
          </p:nvSpPr>
          <p:spPr>
            <a:xfrm flipH="false" flipV="false" rot="0">
              <a:off x="0" y="0"/>
              <a:ext cx="3810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9150" y="657225"/>
            <a:ext cx="66675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00879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PERFIL DE EGRESO · INGENIERÍA EN INFORMÁTICA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9150" y="1266825"/>
            <a:ext cx="163830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500" b="true">
                <a:solidFill>
                  <a:srgbClr val="0B3035"/>
                </a:solidFill>
                <a:latin typeface="Cambria Bold"/>
                <a:ea typeface="Cambria Bold"/>
                <a:cs typeface="Cambria Bold"/>
                <a:sym typeface="Cambria Bold"/>
              </a:rPr>
              <a:t>Competencias aplicadas a FitSearch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9625" y="2524125"/>
            <a:ext cx="8115300" cy="2628900"/>
            <a:chOff x="0" y="0"/>
            <a:chExt cx="10820400" cy="350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20400" cy="3505200"/>
            </a:xfrm>
            <a:custGeom>
              <a:avLst/>
              <a:gdLst/>
              <a:ahLst/>
              <a:cxnLst/>
              <a:rect r="r" b="b" t="t" l="l"/>
              <a:pathLst>
                <a:path h="3505200" w="10820400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lnTo>
                    <a:pt x="10680192" y="0"/>
                  </a:lnTo>
                  <a:cubicBezTo>
                    <a:pt x="10757662" y="0"/>
                    <a:pt x="10820400" y="62738"/>
                    <a:pt x="10820400" y="140208"/>
                  </a:cubicBezTo>
                  <a:lnTo>
                    <a:pt x="10820400" y="3364992"/>
                  </a:lnTo>
                  <a:cubicBezTo>
                    <a:pt x="10820400" y="3442462"/>
                    <a:pt x="10757662" y="3505200"/>
                    <a:pt x="10680192" y="3505200"/>
                  </a:cubicBezTo>
                  <a:lnTo>
                    <a:pt x="140208" y="3505200"/>
                  </a:lnTo>
                  <a:cubicBezTo>
                    <a:pt x="62738" y="3505200"/>
                    <a:pt x="0" y="3442462"/>
                    <a:pt x="0" y="33649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A9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050" y="2762250"/>
            <a:ext cx="7429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00AA9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C1 · PRUEBAS Y CALIDAD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2050" y="3371850"/>
            <a:ext cx="74866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0B3035"/>
                </a:solidFill>
                <a:latin typeface="Calibri (MS)"/>
                <a:ea typeface="Calibri (MS)"/>
                <a:cs typeface="Calibri (MS)"/>
                <a:sym typeface="Calibri (MS)"/>
              </a:rPr>
              <a:t>Diseñar y ejecutar pruebas de registro, búsqueda</a:t>
            </a:r>
          </a:p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0B3035"/>
                </a:solidFill>
                <a:latin typeface="Calibri (MS)"/>
                <a:ea typeface="Calibri (MS)"/>
                <a:cs typeface="Calibri (MS)"/>
                <a:sym typeface="Calibri (MS)"/>
              </a:rPr>
              <a:t>y alimentación; corregir fallos y volver a validar.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050" y="4476750"/>
            <a:ext cx="74866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586E72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Evidencia: casos, resultados y correcciones.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05925" y="2524125"/>
            <a:ext cx="8115300" cy="2628900"/>
            <a:chOff x="0" y="0"/>
            <a:chExt cx="10820400" cy="350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20400" cy="3505200"/>
            </a:xfrm>
            <a:custGeom>
              <a:avLst/>
              <a:gdLst/>
              <a:ahLst/>
              <a:cxnLst/>
              <a:rect r="r" b="b" t="t" l="l"/>
              <a:pathLst>
                <a:path h="3505200" w="10820400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lnTo>
                    <a:pt x="10680192" y="0"/>
                  </a:lnTo>
                  <a:cubicBezTo>
                    <a:pt x="10757662" y="0"/>
                    <a:pt x="10820400" y="62738"/>
                    <a:pt x="10820400" y="140208"/>
                  </a:cubicBezTo>
                  <a:lnTo>
                    <a:pt x="10820400" y="3364992"/>
                  </a:lnTo>
                  <a:cubicBezTo>
                    <a:pt x="10820400" y="3442462"/>
                    <a:pt x="10757662" y="3505200"/>
                    <a:pt x="10680192" y="3505200"/>
                  </a:cubicBezTo>
                  <a:lnTo>
                    <a:pt x="140208" y="3505200"/>
                  </a:lnTo>
                  <a:cubicBezTo>
                    <a:pt x="62738" y="3505200"/>
                    <a:pt x="0" y="3442462"/>
                    <a:pt x="0" y="33649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A9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658350" y="2762250"/>
            <a:ext cx="7429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00AA9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C2 · GESTIÓN DE PROYECTOS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8350" y="3371850"/>
            <a:ext cx="74866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0B3035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Planificar y controlar el MVP con Scrum,</a:t>
            </a:r>
          </a:p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0B3035"/>
                </a:solidFill>
                <a:latin typeface="Calibri (MS)"/>
                <a:ea typeface="Calibri (MS)"/>
                <a:cs typeface="Calibri (MS)"/>
                <a:sym typeface="Calibri (MS)"/>
              </a:rPr>
              <a:t>priorizando el backlog y revisando cada sprint.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8350" y="4476750"/>
            <a:ext cx="74866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586E72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Evidencia: backlog, tablero y retrospectivas.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09625" y="5457825"/>
            <a:ext cx="8115300" cy="2628900"/>
            <a:chOff x="0" y="0"/>
            <a:chExt cx="10820400" cy="3505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20400" cy="3505200"/>
            </a:xfrm>
            <a:custGeom>
              <a:avLst/>
              <a:gdLst/>
              <a:ahLst/>
              <a:cxnLst/>
              <a:rect r="r" b="b" t="t" l="l"/>
              <a:pathLst>
                <a:path h="3505200" w="10820400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lnTo>
                    <a:pt x="10680192" y="0"/>
                  </a:lnTo>
                  <a:cubicBezTo>
                    <a:pt x="10757662" y="0"/>
                    <a:pt x="10820400" y="62738"/>
                    <a:pt x="10820400" y="140208"/>
                  </a:cubicBezTo>
                  <a:lnTo>
                    <a:pt x="10820400" y="3364992"/>
                  </a:lnTo>
                  <a:cubicBezTo>
                    <a:pt x="10820400" y="3442462"/>
                    <a:pt x="10757662" y="3505200"/>
                    <a:pt x="10680192" y="3505200"/>
                  </a:cubicBezTo>
                  <a:lnTo>
                    <a:pt x="140208" y="3505200"/>
                  </a:lnTo>
                  <a:cubicBezTo>
                    <a:pt x="62738" y="3505200"/>
                    <a:pt x="0" y="3442462"/>
                    <a:pt x="0" y="33649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A9D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62050" y="5695950"/>
            <a:ext cx="7429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00AA9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C3 · MODELOS DE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2050" y="6305550"/>
            <a:ext cx="74866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0B3035"/>
                </a:solidFill>
                <a:latin typeface="Calibri (MS)"/>
                <a:ea typeface="Calibri (MS)"/>
                <a:cs typeface="Calibri (MS)"/>
                <a:sym typeface="Calibri (MS)"/>
              </a:rPr>
              <a:t>Diseñar e implementar en MySQL los datos de</a:t>
            </a:r>
          </a:p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0B3035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usuarios, profesionales, chats y alimentación.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2050" y="7410450"/>
            <a:ext cx="74866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586E72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Evidencia: modelo entidad-relación y scripts.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05925" y="5457825"/>
            <a:ext cx="8115300" cy="2628900"/>
            <a:chOff x="0" y="0"/>
            <a:chExt cx="10820400" cy="3505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20400" cy="3505200"/>
            </a:xfrm>
            <a:custGeom>
              <a:avLst/>
              <a:gdLst/>
              <a:ahLst/>
              <a:cxnLst/>
              <a:rect r="r" b="b" t="t" l="l"/>
              <a:pathLst>
                <a:path h="3505200" w="10820400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lnTo>
                    <a:pt x="10680192" y="0"/>
                  </a:lnTo>
                  <a:cubicBezTo>
                    <a:pt x="10757662" y="0"/>
                    <a:pt x="10820400" y="62738"/>
                    <a:pt x="10820400" y="140208"/>
                  </a:cubicBezTo>
                  <a:lnTo>
                    <a:pt x="10820400" y="3364992"/>
                  </a:lnTo>
                  <a:cubicBezTo>
                    <a:pt x="10820400" y="3442462"/>
                    <a:pt x="10757662" y="3505200"/>
                    <a:pt x="10680192" y="3505200"/>
                  </a:cubicBezTo>
                  <a:lnTo>
                    <a:pt x="140208" y="3505200"/>
                  </a:lnTo>
                  <a:cubicBezTo>
                    <a:pt x="62738" y="3505200"/>
                    <a:pt x="0" y="3442462"/>
                    <a:pt x="0" y="33649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A9D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658350" y="5695950"/>
            <a:ext cx="7429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00AA9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C4 · DESARROLLO DE SOFTWARE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58350" y="6305550"/>
            <a:ext cx="74866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0B3035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Construir e integrar React, Node.js, mapas e IA;</a:t>
            </a:r>
          </a:p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0B3035"/>
                </a:solidFill>
                <a:latin typeface="Calibri (MS)"/>
                <a:ea typeface="Calibri (MS)"/>
                <a:cs typeface="Calibri (MS)"/>
                <a:sym typeface="Calibri (MS)"/>
              </a:rPr>
              <a:t>desplegar la solución mediante Docker.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58350" y="7410450"/>
            <a:ext cx="74866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586E72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Evidencia: repositorio y aplicación desplegable.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09625" y="8620125"/>
            <a:ext cx="16611600" cy="762000"/>
            <a:chOff x="0" y="0"/>
            <a:chExt cx="22148800" cy="101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1488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148800">
                  <a:moveTo>
                    <a:pt x="0" y="40640"/>
                  </a:moveTo>
                  <a:cubicBezTo>
                    <a:pt x="0" y="18161"/>
                    <a:pt x="18161" y="0"/>
                    <a:pt x="40640" y="0"/>
                  </a:cubicBezTo>
                  <a:lnTo>
                    <a:pt x="22108161" y="0"/>
                  </a:lnTo>
                  <a:cubicBezTo>
                    <a:pt x="22130640" y="0"/>
                    <a:pt x="22148800" y="18161"/>
                    <a:pt x="22148800" y="40640"/>
                  </a:cubicBezTo>
                  <a:lnTo>
                    <a:pt x="22148800" y="975360"/>
                  </a:lnTo>
                  <a:cubicBezTo>
                    <a:pt x="22148800" y="997839"/>
                    <a:pt x="22130640" y="1016000"/>
                    <a:pt x="22108161" y="1016000"/>
                  </a:cubicBezTo>
                  <a:lnTo>
                    <a:pt x="40640" y="1016000"/>
                  </a:lnTo>
                  <a:cubicBezTo>
                    <a:pt x="18161" y="1016000"/>
                    <a:pt x="0" y="997839"/>
                    <a:pt x="0" y="975360"/>
                  </a:cubicBezTo>
                  <a:close/>
                </a:path>
              </a:pathLst>
            </a:custGeom>
            <a:solidFill>
              <a:srgbClr val="004C52"/>
            </a:solidFill>
            <a:ln w="19050" cap="sq">
              <a:solidFill>
                <a:srgbClr val="004C52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123950" y="8753475"/>
            <a:ext cx="160020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Aplicación prevista durante el desarrollo: planificar, construir, validar y mejorar el MVP.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5800" y="9801225"/>
            <a:ext cx="14859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>
                <a:solidFill>
                  <a:srgbClr val="586E72"/>
                </a:solidFill>
                <a:latin typeface="Calibri (MS)"/>
                <a:ea typeface="Calibri (MS)"/>
                <a:cs typeface="Calibri (MS)"/>
                <a:sym typeface="Calibri (MS)"/>
              </a:rPr>
              <a:t>FitSearch — Definición del Proyecto APT · Fuente: rúbrica de Fase 1 y guía 1.5 del proyecto.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· HITOS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087600" cy="1028700"/>
            <a:chOff x="0" y="0"/>
            <a:chExt cx="201168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Etapas de desarrollo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9240">
            <a:off x="1311373" y="4173855"/>
            <a:ext cx="14193060" cy="0"/>
          </a:xfrm>
          <a:prstGeom prst="line">
            <a:avLst/>
          </a:prstGeom>
          <a:ln cap="rnd" w="19050">
            <a:solidFill>
              <a:srgbClr val="CBDC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09650" y="3862578"/>
            <a:ext cx="641604" cy="641604"/>
            <a:chOff x="0" y="0"/>
            <a:chExt cx="855472" cy="8554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5472" cy="855472"/>
            </a:xfrm>
            <a:custGeom>
              <a:avLst/>
              <a:gdLst/>
              <a:ahLst/>
              <a:cxnLst/>
              <a:rect r="r" b="b" t="t" l="l"/>
              <a:pathLst>
                <a:path h="855472" w="855472">
                  <a:moveTo>
                    <a:pt x="0" y="427736"/>
                  </a:moveTo>
                  <a:cubicBezTo>
                    <a:pt x="0" y="191516"/>
                    <a:pt x="191516" y="0"/>
                    <a:pt x="427736" y="0"/>
                  </a:cubicBezTo>
                  <a:cubicBezTo>
                    <a:pt x="663956" y="0"/>
                    <a:pt x="855472" y="191516"/>
                    <a:pt x="855472" y="427736"/>
                  </a:cubicBezTo>
                  <a:cubicBezTo>
                    <a:pt x="855472" y="663956"/>
                    <a:pt x="663956" y="855472"/>
                    <a:pt x="427736" y="855472"/>
                  </a:cubicBezTo>
                  <a:cubicBezTo>
                    <a:pt x="191516" y="855472"/>
                    <a:pt x="0" y="663956"/>
                    <a:pt x="0" y="427736"/>
                  </a:cubicBezTo>
                  <a:close/>
                </a:path>
              </a:pathLst>
            </a:custGeom>
            <a:solidFill>
              <a:srgbClr val="02809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74320" y="2057400"/>
            <a:ext cx="2194560" cy="480060"/>
            <a:chOff x="0" y="0"/>
            <a:chExt cx="292608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926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Fase 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2537460"/>
            <a:ext cx="2743200" cy="1165860"/>
            <a:chOff x="0" y="0"/>
            <a:chExt cx="365760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t="0" r="-452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Definición del proyecto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74320" y="4663440"/>
            <a:ext cx="2194560" cy="411480"/>
            <a:chOff x="0" y="0"/>
            <a:chExt cx="29260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i="true">
                  <a:solidFill>
                    <a:srgbClr val="02809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Semanas 1-4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68802" y="3862578"/>
            <a:ext cx="641604" cy="641604"/>
            <a:chOff x="0" y="0"/>
            <a:chExt cx="855472" cy="8554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5472" cy="855472"/>
            </a:xfrm>
            <a:custGeom>
              <a:avLst/>
              <a:gdLst/>
              <a:ahLst/>
              <a:cxnLst/>
              <a:rect r="r" b="b" t="t" l="l"/>
              <a:pathLst>
                <a:path h="855472" w="855472">
                  <a:moveTo>
                    <a:pt x="0" y="427736"/>
                  </a:moveTo>
                  <a:cubicBezTo>
                    <a:pt x="0" y="191516"/>
                    <a:pt x="191516" y="0"/>
                    <a:pt x="427736" y="0"/>
                  </a:cubicBezTo>
                  <a:cubicBezTo>
                    <a:pt x="663956" y="0"/>
                    <a:pt x="855472" y="191516"/>
                    <a:pt x="855472" y="427736"/>
                  </a:cubicBezTo>
                  <a:cubicBezTo>
                    <a:pt x="855472" y="663956"/>
                    <a:pt x="663956" y="855472"/>
                    <a:pt x="427736" y="855472"/>
                  </a:cubicBezTo>
                  <a:cubicBezTo>
                    <a:pt x="191516" y="855472"/>
                    <a:pt x="0" y="663956"/>
                    <a:pt x="0" y="427736"/>
                  </a:cubicBezTo>
                  <a:close/>
                </a:path>
              </a:pathLst>
            </a:custGeom>
            <a:solidFill>
              <a:srgbClr val="02809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633472" y="4800600"/>
            <a:ext cx="2194560" cy="480060"/>
            <a:chOff x="0" y="0"/>
            <a:chExt cx="292608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926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Sprint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359152" y="5280660"/>
            <a:ext cx="2743200" cy="1165860"/>
            <a:chOff x="0" y="0"/>
            <a:chExt cx="365760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t="0" r="-452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6576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Fundamentos y autenticación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633472" y="4361688"/>
            <a:ext cx="2194560" cy="411480"/>
            <a:chOff x="0" y="0"/>
            <a:chExt cx="292608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i="true">
                  <a:solidFill>
                    <a:srgbClr val="02809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Semanas 5-6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727954" y="3862578"/>
            <a:ext cx="641604" cy="641604"/>
            <a:chOff x="0" y="0"/>
            <a:chExt cx="855472" cy="8554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5472" cy="855472"/>
            </a:xfrm>
            <a:custGeom>
              <a:avLst/>
              <a:gdLst/>
              <a:ahLst/>
              <a:cxnLst/>
              <a:rect r="r" b="b" t="t" l="l"/>
              <a:pathLst>
                <a:path h="855472" w="855472">
                  <a:moveTo>
                    <a:pt x="0" y="427736"/>
                  </a:moveTo>
                  <a:cubicBezTo>
                    <a:pt x="0" y="191516"/>
                    <a:pt x="191516" y="0"/>
                    <a:pt x="427736" y="0"/>
                  </a:cubicBezTo>
                  <a:cubicBezTo>
                    <a:pt x="663956" y="0"/>
                    <a:pt x="855472" y="191516"/>
                    <a:pt x="855472" y="427736"/>
                  </a:cubicBezTo>
                  <a:cubicBezTo>
                    <a:pt x="855472" y="663956"/>
                    <a:pt x="663956" y="855472"/>
                    <a:pt x="427736" y="855472"/>
                  </a:cubicBezTo>
                  <a:cubicBezTo>
                    <a:pt x="191516" y="855472"/>
                    <a:pt x="0" y="663956"/>
                    <a:pt x="0" y="427736"/>
                  </a:cubicBezTo>
                  <a:close/>
                </a:path>
              </a:pathLst>
            </a:custGeom>
            <a:solidFill>
              <a:srgbClr val="02809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992624" y="2057400"/>
            <a:ext cx="2194560" cy="480060"/>
            <a:chOff x="0" y="0"/>
            <a:chExt cx="292608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926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Sprint 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718304" y="2537460"/>
            <a:ext cx="2743200" cy="1165860"/>
            <a:chOff x="0" y="0"/>
            <a:chExt cx="365760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t="0" r="-452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6576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Directorio de profesionales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992624" y="4663440"/>
            <a:ext cx="2194560" cy="411480"/>
            <a:chOff x="0" y="0"/>
            <a:chExt cx="292608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i="true">
                  <a:solidFill>
                    <a:srgbClr val="02809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Semanas 7-8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087106" y="3862578"/>
            <a:ext cx="641604" cy="641604"/>
            <a:chOff x="0" y="0"/>
            <a:chExt cx="855472" cy="8554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55472" cy="855472"/>
            </a:xfrm>
            <a:custGeom>
              <a:avLst/>
              <a:gdLst/>
              <a:ahLst/>
              <a:cxnLst/>
              <a:rect r="r" b="b" t="t" l="l"/>
              <a:pathLst>
                <a:path h="855472" w="855472">
                  <a:moveTo>
                    <a:pt x="0" y="427736"/>
                  </a:moveTo>
                  <a:cubicBezTo>
                    <a:pt x="0" y="191516"/>
                    <a:pt x="191516" y="0"/>
                    <a:pt x="427736" y="0"/>
                  </a:cubicBezTo>
                  <a:cubicBezTo>
                    <a:pt x="663956" y="0"/>
                    <a:pt x="855472" y="191516"/>
                    <a:pt x="855472" y="427736"/>
                  </a:cubicBezTo>
                  <a:cubicBezTo>
                    <a:pt x="855472" y="663956"/>
                    <a:pt x="663956" y="855472"/>
                    <a:pt x="427736" y="855472"/>
                  </a:cubicBezTo>
                  <a:cubicBezTo>
                    <a:pt x="191516" y="855472"/>
                    <a:pt x="0" y="663956"/>
                    <a:pt x="0" y="427736"/>
                  </a:cubicBezTo>
                  <a:close/>
                </a:path>
              </a:pathLst>
            </a:custGeom>
            <a:solidFill>
              <a:srgbClr val="02C39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351776" y="4800600"/>
            <a:ext cx="2194560" cy="480060"/>
            <a:chOff x="0" y="0"/>
            <a:chExt cx="292608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926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Sprint 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077456" y="5280660"/>
            <a:ext cx="2743200" cy="1165860"/>
            <a:chOff x="0" y="0"/>
            <a:chExt cx="365760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t="0" r="-4529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6576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Búsqueda geolocalizada · Hito control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51776" y="4361688"/>
            <a:ext cx="2194560" cy="411480"/>
            <a:chOff x="0" y="0"/>
            <a:chExt cx="29260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i="true">
                  <a:solidFill>
                    <a:srgbClr val="02809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Semanas 9-10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446258" y="3862578"/>
            <a:ext cx="641604" cy="641604"/>
            <a:chOff x="0" y="0"/>
            <a:chExt cx="855472" cy="8554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5472" cy="855472"/>
            </a:xfrm>
            <a:custGeom>
              <a:avLst/>
              <a:gdLst/>
              <a:ahLst/>
              <a:cxnLst/>
              <a:rect r="r" b="b" t="t" l="l"/>
              <a:pathLst>
                <a:path h="855472" w="855472">
                  <a:moveTo>
                    <a:pt x="0" y="427736"/>
                  </a:moveTo>
                  <a:cubicBezTo>
                    <a:pt x="0" y="191516"/>
                    <a:pt x="191516" y="0"/>
                    <a:pt x="427736" y="0"/>
                  </a:cubicBezTo>
                  <a:cubicBezTo>
                    <a:pt x="663956" y="0"/>
                    <a:pt x="855472" y="191516"/>
                    <a:pt x="855472" y="427736"/>
                  </a:cubicBezTo>
                  <a:cubicBezTo>
                    <a:pt x="855472" y="663956"/>
                    <a:pt x="663956" y="855472"/>
                    <a:pt x="427736" y="855472"/>
                  </a:cubicBezTo>
                  <a:cubicBezTo>
                    <a:pt x="191516" y="855472"/>
                    <a:pt x="0" y="663956"/>
                    <a:pt x="0" y="427736"/>
                  </a:cubicBezTo>
                  <a:close/>
                </a:path>
              </a:pathLst>
            </a:custGeom>
            <a:solidFill>
              <a:srgbClr val="02809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710928" y="2057400"/>
            <a:ext cx="2194560" cy="480060"/>
            <a:chOff x="0" y="0"/>
            <a:chExt cx="292608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2926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Sprint 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36608" y="2537460"/>
            <a:ext cx="2743200" cy="1165860"/>
            <a:chOff x="0" y="0"/>
            <a:chExt cx="3657600" cy="1554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t="0" r="-452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6576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Asistente de IA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10928" y="4663440"/>
            <a:ext cx="2194560" cy="411480"/>
            <a:chOff x="0" y="0"/>
            <a:chExt cx="292608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i="true">
                  <a:solidFill>
                    <a:srgbClr val="02809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Semanas 11-12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805410" y="3862578"/>
            <a:ext cx="641604" cy="641604"/>
            <a:chOff x="0" y="0"/>
            <a:chExt cx="855472" cy="8554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55472" cy="855472"/>
            </a:xfrm>
            <a:custGeom>
              <a:avLst/>
              <a:gdLst/>
              <a:ahLst/>
              <a:cxnLst/>
              <a:rect r="r" b="b" t="t" l="l"/>
              <a:pathLst>
                <a:path h="855472" w="855472">
                  <a:moveTo>
                    <a:pt x="0" y="427736"/>
                  </a:moveTo>
                  <a:cubicBezTo>
                    <a:pt x="0" y="191516"/>
                    <a:pt x="191516" y="0"/>
                    <a:pt x="427736" y="0"/>
                  </a:cubicBezTo>
                  <a:cubicBezTo>
                    <a:pt x="663956" y="0"/>
                    <a:pt x="855472" y="191516"/>
                    <a:pt x="855472" y="427736"/>
                  </a:cubicBezTo>
                  <a:cubicBezTo>
                    <a:pt x="855472" y="663956"/>
                    <a:pt x="663956" y="855472"/>
                    <a:pt x="427736" y="855472"/>
                  </a:cubicBezTo>
                  <a:cubicBezTo>
                    <a:pt x="191516" y="855472"/>
                    <a:pt x="0" y="663956"/>
                    <a:pt x="0" y="427736"/>
                  </a:cubicBezTo>
                  <a:close/>
                </a:path>
              </a:pathLst>
            </a:custGeom>
            <a:solidFill>
              <a:srgbClr val="02C39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070080" y="4800600"/>
            <a:ext cx="2194560" cy="480060"/>
            <a:chOff x="0" y="0"/>
            <a:chExt cx="292608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2926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Sprint 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795760" y="5280660"/>
            <a:ext cx="2743200" cy="1165860"/>
            <a:chOff x="0" y="0"/>
            <a:chExt cx="3657600" cy="15544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57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t="0" r="-4529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6576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Gestor alimentación y despliegue · Hito cierre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070080" y="4361688"/>
            <a:ext cx="2194560" cy="411480"/>
            <a:chOff x="0" y="0"/>
            <a:chExt cx="292608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i="true">
                  <a:solidFill>
                    <a:srgbClr val="02809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Semanas 13-15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164562" y="3862578"/>
            <a:ext cx="641604" cy="641604"/>
            <a:chOff x="0" y="0"/>
            <a:chExt cx="855472" cy="8554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55472" cy="855472"/>
            </a:xfrm>
            <a:custGeom>
              <a:avLst/>
              <a:gdLst/>
              <a:ahLst/>
              <a:cxnLst/>
              <a:rect r="r" b="b" t="t" l="l"/>
              <a:pathLst>
                <a:path h="855472" w="855472">
                  <a:moveTo>
                    <a:pt x="0" y="427736"/>
                  </a:moveTo>
                  <a:cubicBezTo>
                    <a:pt x="0" y="191516"/>
                    <a:pt x="191516" y="0"/>
                    <a:pt x="427736" y="0"/>
                  </a:cubicBezTo>
                  <a:cubicBezTo>
                    <a:pt x="663956" y="0"/>
                    <a:pt x="855472" y="191516"/>
                    <a:pt x="855472" y="427736"/>
                  </a:cubicBezTo>
                  <a:cubicBezTo>
                    <a:pt x="855472" y="663956"/>
                    <a:pt x="663956" y="855472"/>
                    <a:pt x="427736" y="855472"/>
                  </a:cubicBezTo>
                  <a:cubicBezTo>
                    <a:pt x="191516" y="855472"/>
                    <a:pt x="0" y="663956"/>
                    <a:pt x="0" y="427736"/>
                  </a:cubicBezTo>
                  <a:close/>
                </a:path>
              </a:pathLst>
            </a:custGeom>
            <a:solidFill>
              <a:srgbClr val="02809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4429232" y="2057400"/>
            <a:ext cx="2194560" cy="480060"/>
            <a:chOff x="0" y="0"/>
            <a:chExt cx="292608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2926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B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Fase 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154912" y="2537460"/>
            <a:ext cx="2743200" cy="1165860"/>
            <a:chOff x="0" y="0"/>
            <a:chExt cx="3657600" cy="15544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57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t="0" r="-4529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6576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Presentación y defensa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429232" y="4663440"/>
            <a:ext cx="2194560" cy="411480"/>
            <a:chOff x="0" y="0"/>
            <a:chExt cx="292608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i="true">
                  <a:solidFill>
                    <a:srgbClr val="02809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Semanas 16-18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" y="8983980"/>
            <a:ext cx="16596360" cy="685800"/>
            <a:chOff x="0" y="0"/>
            <a:chExt cx="22128480" cy="914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B6E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Sprints de 2 semanas durante la Fase 2 (semanas 5–15) · Metodología Scrum con Sprint Planning, Daily, Sprint Review y Retrospectiva en cada sprint.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FitSearch — Definición del Proyecto APT (Fase 1)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854428" y="9710928"/>
            <a:ext cx="2743200" cy="411480"/>
            <a:chOff x="0" y="0"/>
            <a:chExt cx="36576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15560095" y="20760"/>
            <a:ext cx="2727905" cy="668427"/>
          </a:xfrm>
          <a:custGeom>
            <a:avLst/>
            <a:gdLst/>
            <a:ahLst/>
            <a:cxnLst/>
            <a:rect r="r" b="b" t="t" l="l"/>
            <a:pathLst>
              <a:path h="668427" w="2727905">
                <a:moveTo>
                  <a:pt x="0" y="0"/>
                </a:moveTo>
                <a:lnTo>
                  <a:pt x="2727905" y="0"/>
                </a:lnTo>
                <a:lnTo>
                  <a:pt x="2727905" y="668427"/>
                </a:lnTo>
                <a:lnTo>
                  <a:pt x="0" y="668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8344186" y="0"/>
            <a:ext cx="1553908" cy="1551492"/>
          </a:xfrm>
          <a:custGeom>
            <a:avLst/>
            <a:gdLst/>
            <a:ahLst/>
            <a:cxnLst/>
            <a:rect r="r" b="b" t="t" l="l"/>
            <a:pathLst>
              <a:path h="1551492" w="1553908">
                <a:moveTo>
                  <a:pt x="0" y="0"/>
                </a:moveTo>
                <a:lnTo>
                  <a:pt x="1553908" y="0"/>
                </a:lnTo>
                <a:lnTo>
                  <a:pt x="1553908" y="1551492"/>
                </a:lnTo>
                <a:lnTo>
                  <a:pt x="0" y="1551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4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4560" y="63093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28090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22960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· CONCLUSIÓN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" y="1303020"/>
            <a:ext cx="15087600" cy="1028700"/>
            <a:chOff x="0" y="0"/>
            <a:chExt cx="201168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116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Cierre de la Fase 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2537460"/>
            <a:ext cx="16184880" cy="1303020"/>
            <a:chOff x="0" y="0"/>
            <a:chExt cx="2157984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798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024" r="0" b="-1920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1579840" cy="185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 i="true">
                  <a:solidFill>
                    <a:srgbClr val="F4FAF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 idea original de FitSearch era demasiado amplia para un Capstone de 18 semanas: definir un Producto Mínimo Viable claro fue el resultado más importante de esta etapa.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4251960"/>
            <a:ext cx="466344" cy="466344"/>
            <a:chOff x="0" y="0"/>
            <a:chExt cx="621792" cy="621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120" y="4251960"/>
            <a:ext cx="466344" cy="466344"/>
            <a:chOff x="0" y="0"/>
            <a:chExt cx="621792" cy="621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144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20" y="4197096"/>
            <a:ext cx="14813280" cy="685800"/>
            <a:chOff x="0" y="0"/>
            <a:chExt cx="1975104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97510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validado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5102352"/>
            <a:ext cx="466344" cy="466344"/>
            <a:chOff x="0" y="0"/>
            <a:chExt cx="621792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0120" y="5102352"/>
            <a:ext cx="466344" cy="466344"/>
            <a:chOff x="0" y="0"/>
            <a:chExt cx="621792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144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20" y="5047488"/>
            <a:ext cx="14813280" cy="685800"/>
            <a:chOff x="0" y="0"/>
            <a:chExt cx="1975104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7510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Vision compartido por el equipo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" y="5952744"/>
            <a:ext cx="466344" cy="466344"/>
            <a:chOff x="0" y="0"/>
            <a:chExt cx="621792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0120" y="5952744"/>
            <a:ext cx="466344" cy="466344"/>
            <a:chOff x="0" y="0"/>
            <a:chExt cx="621792" cy="6217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144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45920" y="5897880"/>
            <a:ext cx="14813280" cy="685800"/>
            <a:chOff x="0" y="0"/>
            <a:chExt cx="1975104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97510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Backlog inicial: 11 historias de usuario priorizadas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" y="6803136"/>
            <a:ext cx="466344" cy="466344"/>
            <a:chOff x="0" y="0"/>
            <a:chExt cx="621792" cy="621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0120" y="6803136"/>
            <a:ext cx="466344" cy="466344"/>
            <a:chOff x="0" y="0"/>
            <a:chExt cx="621792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144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45920" y="6748272"/>
            <a:ext cx="14813280" cy="685800"/>
            <a:chOff x="0" y="0"/>
            <a:chExt cx="1975104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97510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Roles Scrum claramente asignados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0595" y="8014335"/>
            <a:ext cx="16341090" cy="1459230"/>
            <a:chOff x="0" y="0"/>
            <a:chExt cx="21788120" cy="1945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788120" cy="1945640"/>
            </a:xfrm>
            <a:custGeom>
              <a:avLst/>
              <a:gdLst/>
              <a:ahLst/>
              <a:cxnLst/>
              <a:rect r="r" b="b" t="t" l="l"/>
              <a:pathLst>
                <a:path h="1945640" w="2178812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1602827" y="0"/>
                  </a:lnTo>
                  <a:cubicBezTo>
                    <a:pt x="21705190" y="0"/>
                    <a:pt x="21788120" y="82931"/>
                    <a:pt x="21788120" y="185293"/>
                  </a:cubicBezTo>
                  <a:lnTo>
                    <a:pt x="21788120" y="1760347"/>
                  </a:lnTo>
                  <a:cubicBezTo>
                    <a:pt x="21788120" y="1862709"/>
                    <a:pt x="21705190" y="1945640"/>
                    <a:pt x="2160282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00A896">
                <a:alpha val="1961"/>
              </a:srgbClr>
            </a:solidFill>
            <a:ln w="1905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8023860"/>
            <a:ext cx="15499080" cy="1440180"/>
            <a:chOff x="0" y="0"/>
            <a:chExt cx="20665440" cy="1920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665439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696" r="0" b="-1596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20665440" cy="2005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alcance definido es técnicamente factible con el stack y el plazo actuales, dando al equipo un punto de partida sólido para la Fase de Construcción.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5560095" y="20760"/>
            <a:ext cx="2727905" cy="668427"/>
          </a:xfrm>
          <a:custGeom>
            <a:avLst/>
            <a:gdLst/>
            <a:ahLst/>
            <a:cxnLst/>
            <a:rect r="r" b="b" t="t" l="l"/>
            <a:pathLst>
              <a:path h="668427" w="2727905">
                <a:moveTo>
                  <a:pt x="0" y="0"/>
                </a:moveTo>
                <a:lnTo>
                  <a:pt x="2727905" y="0"/>
                </a:lnTo>
                <a:lnTo>
                  <a:pt x="2727905" y="668427"/>
                </a:lnTo>
                <a:lnTo>
                  <a:pt x="0" y="668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8344186" y="0"/>
            <a:ext cx="1553908" cy="1551492"/>
          </a:xfrm>
          <a:custGeom>
            <a:avLst/>
            <a:gdLst/>
            <a:ahLst/>
            <a:cxnLst/>
            <a:rect r="r" b="b" t="t" l="l"/>
            <a:pathLst>
              <a:path h="1551492" w="1553908">
                <a:moveTo>
                  <a:pt x="0" y="0"/>
                </a:moveTo>
                <a:lnTo>
                  <a:pt x="1553908" y="0"/>
                </a:lnTo>
                <a:lnTo>
                  <a:pt x="1553908" y="1551492"/>
                </a:lnTo>
                <a:lnTo>
                  <a:pt x="0" y="1551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DAHTzSQswgg</dc:identifier>
  <dcterms:modified xsi:type="dcterms:W3CDTF">2011-08-01T06:04:30Z</dcterms:modified>
  <cp:revision>1</cp:revision>
  <dc:title>FitSearch.pptx</dc:title>
</cp:coreProperties>
</file>